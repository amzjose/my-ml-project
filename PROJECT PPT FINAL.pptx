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1"/>
    <p:sldMasterId id="2147483787" r:id="rId2"/>
  </p:sldMasterIdLst>
  <p:notesMasterIdLst>
    <p:notesMasterId r:id="rId23"/>
  </p:notesMasterIdLst>
  <p:handoutMasterIdLst>
    <p:handoutMasterId r:id="rId24"/>
  </p:handoutMasterIdLst>
  <p:sldIdLst>
    <p:sldId id="256" r:id="rId3"/>
    <p:sldId id="257" r:id="rId4"/>
    <p:sldId id="258" r:id="rId5"/>
    <p:sldId id="259" r:id="rId6"/>
    <p:sldId id="260" r:id="rId7"/>
    <p:sldId id="261" r:id="rId8"/>
    <p:sldId id="262" r:id="rId9"/>
    <p:sldId id="287" r:id="rId10"/>
    <p:sldId id="281" r:id="rId11"/>
    <p:sldId id="282" r:id="rId12"/>
    <p:sldId id="283" r:id="rId13"/>
    <p:sldId id="286" r:id="rId14"/>
    <p:sldId id="266" r:id="rId15"/>
    <p:sldId id="275" r:id="rId16"/>
    <p:sldId id="267" r:id="rId17"/>
    <p:sldId id="268" r:id="rId18"/>
    <p:sldId id="284" r:id="rId19"/>
    <p:sldId id="269" r:id="rId20"/>
    <p:sldId id="279"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39" autoAdjust="0"/>
    <p:restoredTop sz="75718" autoAdjust="0"/>
  </p:normalViewPr>
  <p:slideViewPr>
    <p:cSldViewPr snapToGrid="0">
      <p:cViewPr varScale="1">
        <p:scale>
          <a:sx n="63" d="100"/>
          <a:sy n="63" d="100"/>
        </p:scale>
        <p:origin x="596" y="56"/>
      </p:cViewPr>
      <p:guideLst>
        <p:guide orient="horz" pos="2160"/>
        <p:guide pos="3840"/>
      </p:guideLst>
    </p:cSldViewPr>
  </p:slideViewPr>
  <p:outlineViewPr>
    <p:cViewPr>
      <p:scale>
        <a:sx n="33" d="100"/>
        <a:sy n="33" d="100"/>
      </p:scale>
      <p:origin x="0" y="7544"/>
    </p:cViewPr>
  </p:outlin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326098-A814-1D6D-3940-EC37511F3E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E19A4B0-16A8-26B9-4563-D7F47A4B49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6D0479-1664-4E28-957E-DAEA700BA005}" type="datetimeFigureOut">
              <a:rPr lang="en-IN" smtClean="0"/>
              <a:t>15-11-2025</a:t>
            </a:fld>
            <a:endParaRPr lang="en-IN"/>
          </a:p>
        </p:txBody>
      </p:sp>
      <p:sp>
        <p:nvSpPr>
          <p:cNvPr id="4" name="Footer Placeholder 3">
            <a:extLst>
              <a:ext uri="{FF2B5EF4-FFF2-40B4-BE49-F238E27FC236}">
                <a16:creationId xmlns:a16="http://schemas.microsoft.com/office/drawing/2014/main" id="{98DF55E5-D093-822C-8904-F0EA6CC8B8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C40B71D-A799-4A04-2D23-84BA5E9AA3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FD638D-8F64-4829-9569-3059DA571EE3}" type="slidenum">
              <a:rPr lang="en-IN" smtClean="0"/>
              <a:t>‹#›</a:t>
            </a:fld>
            <a:endParaRPr lang="en-IN"/>
          </a:p>
        </p:txBody>
      </p:sp>
    </p:spTree>
    <p:extLst>
      <p:ext uri="{BB962C8B-B14F-4D97-AF65-F5344CB8AC3E}">
        <p14:creationId xmlns:p14="http://schemas.microsoft.com/office/powerpoint/2010/main" val="2278261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32D723-086F-48BD-B19E-CA1FBD614741}" type="datetimeFigureOut">
              <a:rPr lang="en-US" smtClean="0"/>
              <a:t>11/15/2025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4C430E6-01D2-4A01-BA0C-F8FEA3D72CAA}" type="slidenum">
              <a:rPr lang="en-US" smtClean="0"/>
              <a:t>‹#›</a:t>
            </a:fld>
            <a:endParaRPr lang="en-US"/>
          </a:p>
        </p:txBody>
      </p:sp>
    </p:spTree>
    <p:extLst>
      <p:ext uri="{BB962C8B-B14F-4D97-AF65-F5344CB8AC3E}">
        <p14:creationId xmlns:p14="http://schemas.microsoft.com/office/powerpoint/2010/main" val="628616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C430E6-01D2-4A01-BA0C-F8FEA3D72CAA}" type="slidenum">
              <a:rPr lang="en-US" smtClean="0"/>
              <a:t>1</a:t>
            </a:fld>
            <a:endParaRPr lang="en-US"/>
          </a:p>
        </p:txBody>
      </p:sp>
    </p:spTree>
    <p:extLst>
      <p:ext uri="{BB962C8B-B14F-4D97-AF65-F5344CB8AC3E}">
        <p14:creationId xmlns:p14="http://schemas.microsoft.com/office/powerpoint/2010/main" val="59700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07493-2888-1E4B-8048-0504E9F8CB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8B356A-EB0A-850C-086A-213DDC49CC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11BA0E-92F1-39D7-0E34-D9F83423DBD8}"/>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C5AD5679-CA69-5C10-9031-3DDE7A1854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6D2460-23CB-7E62-ECB5-D4E53A79CBC2}"/>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3221253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3E33-A767-3EE4-097B-BE3EE07B48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7741AF-7FD9-D982-DEE9-A967F68D24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6F4AFE-743D-40D6-1531-78E5AA670A7F}"/>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14CC2A97-2AFC-F6DE-E12B-6C7A3B02EB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A94BF8-C71B-FFD4-D07F-CD171A5C155B}"/>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2001162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7888-D1C1-FA1C-133C-036C6341671F}"/>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D3538C0-27B9-7327-A978-4E3C6FFE2F24}"/>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E18C71-81A5-8200-F315-EB351E5DD195}"/>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8AF36FA3-62B8-4DEB-6580-72E1EFAD79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474172-16F4-8A46-E018-4D4E804E1573}"/>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763791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562A4-95C4-CC13-69AE-94659B5BCC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025553-A191-2C52-88B1-43E6AEE301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B528362-B78F-3D35-1A87-C608F593A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91CBB4-29BD-FAF0-DF77-0D3ED6A9BD85}"/>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6" name="Footer Placeholder 5">
            <a:extLst>
              <a:ext uri="{FF2B5EF4-FFF2-40B4-BE49-F238E27FC236}">
                <a16:creationId xmlns:a16="http://schemas.microsoft.com/office/drawing/2014/main" id="{75E73E80-E5B3-0127-52AE-A316DBC47C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B60849-B2DC-415A-B7A2-B8F9CFAC32A7}"/>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722952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F4A3A-B0A6-5042-939E-E940612FA235}"/>
              </a:ext>
            </a:extLst>
          </p:cNvPr>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F360BF-493B-B588-CA3A-03A3CBD97ED3}"/>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1FD768-9221-AA85-7826-EA6B9ACEB1BE}"/>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FED8B1-588A-1B70-3A27-98A0224F6059}"/>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DD6C7A-8713-A91A-93BA-EC9E11BCBCE8}"/>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1FA94C-6B83-46A4-0EDD-14C98EAA2580}"/>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8" name="Footer Placeholder 7">
            <a:extLst>
              <a:ext uri="{FF2B5EF4-FFF2-40B4-BE49-F238E27FC236}">
                <a16:creationId xmlns:a16="http://schemas.microsoft.com/office/drawing/2014/main" id="{2CBC2BDB-2E00-7638-7FFF-534299AA17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E12062-FB76-03E8-62DF-88A65C0FDCAB}"/>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290440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53821-B146-D8A8-D951-3DF09341B4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BED522-4E56-392F-F495-C784814992AF}"/>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4" name="Footer Placeholder 3">
            <a:extLst>
              <a:ext uri="{FF2B5EF4-FFF2-40B4-BE49-F238E27FC236}">
                <a16:creationId xmlns:a16="http://schemas.microsoft.com/office/drawing/2014/main" id="{E32962C2-299C-8C42-8E90-31D7F4D6F1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6A2485-6795-462C-9F82-D63D3C643ACF}"/>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141826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43548-A5B9-710B-BDD7-E3750D30E257}"/>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3" name="Footer Placeholder 2">
            <a:extLst>
              <a:ext uri="{FF2B5EF4-FFF2-40B4-BE49-F238E27FC236}">
                <a16:creationId xmlns:a16="http://schemas.microsoft.com/office/drawing/2014/main" id="{8E9FCAB3-BA9E-1474-0264-F54798AAA48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53C70C-D56D-23B1-9BCC-BE44C7E9C9F0}"/>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2437736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B51A-4863-8C5C-5317-77719D8C80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627136D-08C9-67E4-DC2C-8960D901649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F0C2E2-A700-A407-4850-CA855A5F8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0823F-EF43-0C22-3007-48744EB71485}"/>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6" name="Footer Placeholder 5">
            <a:extLst>
              <a:ext uri="{FF2B5EF4-FFF2-40B4-BE49-F238E27FC236}">
                <a16:creationId xmlns:a16="http://schemas.microsoft.com/office/drawing/2014/main" id="{0866C4E0-2CC8-7FCD-8DA9-29CA28DC88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781E83-6885-E070-6C8A-E51E200BD403}"/>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1265785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AF6C-CF32-3CBF-D019-06416582FE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FC8D8C-A5BF-2766-D9C4-6BE4B724CB48}"/>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BC6A302-A164-1694-8A05-4DB7AFC39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4E26FB-DA9C-123F-487D-C3044172710F}"/>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6" name="Footer Placeholder 5">
            <a:extLst>
              <a:ext uri="{FF2B5EF4-FFF2-40B4-BE49-F238E27FC236}">
                <a16:creationId xmlns:a16="http://schemas.microsoft.com/office/drawing/2014/main" id="{73C58145-F43A-A0DA-34DE-F633A43FD5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8CA64B-68C8-3C3B-9A64-0D641B10CC7A}"/>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667232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3568E-7390-6182-A53C-5AF0A77C99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F6055A-8468-CC92-289C-4416F5F7BF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D2266E-2AA3-02C0-6C89-74370992C85D}"/>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B1976BCD-4232-6C2C-926A-5F36661C2F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0068C7-254B-EFE8-ED3A-737B752222A9}"/>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155113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C60FB3-AD6F-349F-4619-F6AB5E1D338A}"/>
              </a:ext>
            </a:extLst>
          </p:cNvPr>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06D3A4-653F-A537-E884-24521038B959}"/>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6FEBEE-B811-9DE6-3D45-15B9E9CD7EC0}"/>
              </a:ext>
            </a:extLst>
          </p:cNvPr>
          <p:cNvSpPr>
            <a:spLocks noGrp="1"/>
          </p:cNvSpPr>
          <p:nvPr>
            <p:ph type="dt" sz="half" idx="10"/>
          </p:nvPr>
        </p:nvSpPr>
        <p:spPr/>
        <p:txBody>
          <a:body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17BB8DD8-076A-AB06-D74E-61263DF328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8F969-EDB4-E385-CB65-0E678B675BAD}"/>
              </a:ext>
            </a:extLst>
          </p:cNvPr>
          <p:cNvSpPr>
            <a:spLocks noGrp="1"/>
          </p:cNvSpPr>
          <p:nvPr>
            <p:ph type="sldNum" sz="quarter" idx="12"/>
          </p:nvPr>
        </p:nvSpPr>
        <p:spPr/>
        <p:txBody>
          <a:bodyPr/>
          <a:lstStyle/>
          <a:p>
            <a:fld id="{628E4635-DCF1-4D51-BD6C-3FFA2C78BEAA}" type="slidenum">
              <a:rPr lang="en-IN" smtClean="0"/>
              <a:t>‹#›</a:t>
            </a:fld>
            <a:endParaRPr lang="en-IN"/>
          </a:p>
        </p:txBody>
      </p:sp>
    </p:spTree>
    <p:extLst>
      <p:ext uri="{BB962C8B-B14F-4D97-AF65-F5344CB8AC3E}">
        <p14:creationId xmlns:p14="http://schemas.microsoft.com/office/powerpoint/2010/main" val="2383505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04F1E9-6A21-4999-AC2C-8259F052B591}" type="datetimeFigureOut">
              <a:rPr lang="en-IN" smtClean="0"/>
              <a:t>15-11-2025</a:t>
            </a:fld>
            <a:endParaRPr lang="en-IN"/>
          </a:p>
        </p:txBody>
      </p:sp>
      <p:sp>
        <p:nvSpPr>
          <p:cNvPr id="20" name="Footer Placeholder 19"/>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7782763F-CA60-42A1-A55E-24140553AF27}" type="slidenum">
              <a:rPr lang="en-IN" smtClean="0"/>
              <a:t>‹#›</a:t>
            </a:fld>
            <a:endParaRPr lang="en-IN"/>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4F1E9-6A21-4999-AC2C-8259F052B591}"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04F1E9-6A21-4999-AC2C-8259F052B591}"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82763F-CA60-42A1-A55E-24140553AF27}" type="slidenum">
              <a:rPr lang="en-IN" smtClean="0"/>
              <a:t>‹#›</a:t>
            </a:fld>
            <a:endParaRPr lang="en-IN"/>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04F1E9-6A21-4999-AC2C-8259F052B591}"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04F1E9-6A21-4999-AC2C-8259F052B591}"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04F1E9-6A21-4999-AC2C-8259F052B591}"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04F1E9-6A21-4999-AC2C-8259F052B591}" type="datetimeFigureOut">
              <a:rPr lang="en-IN" smtClean="0"/>
              <a:t>15-11-2025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82763F-CA60-42A1-A55E-24140553AF27}" type="slidenum">
              <a:rPr lang="en-IN" smtClean="0"/>
              <a:t>‹#›</a:t>
            </a:fld>
            <a:endParaRPr lang="en-IN"/>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04F1E9-6A21-4999-AC2C-8259F052B591}"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04F1E9-6A21-4999-AC2C-8259F052B591}"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82763F-CA60-42A1-A55E-24140553AF27}" type="slidenum">
              <a:rPr lang="en-IN" smtClean="0"/>
              <a:t>‹#›</a:t>
            </a:fld>
            <a:endParaRPr lang="en-IN"/>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4F1E9-6A21-4999-AC2C-8259F052B591}"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04F1E9-6A21-4999-AC2C-8259F052B591}"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82763F-CA60-42A1-A55E-24140553AF27}" type="slidenum">
              <a:rPr lang="en-IN" smtClean="0"/>
              <a:t>‹#›</a:t>
            </a:fld>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C82A7-75E8-2359-0175-D9A6BC7258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1C7E55-C03F-802E-24B5-73B1CB71FA81}"/>
              </a:ext>
            </a:extLst>
          </p:cNvPr>
          <p:cNvSpPr>
            <a:spLocks noGrp="1"/>
          </p:cNvSpPr>
          <p:nvPr>
            <p:ph type="dt" sz="half" idx="10"/>
          </p:nvPr>
        </p:nvSpPr>
        <p:spPr/>
        <p:txBody>
          <a:bodyPr/>
          <a:lstStyle/>
          <a:p>
            <a:fld id="{8204F1E9-6A21-4999-AC2C-8259F052B591}" type="datetimeFigureOut">
              <a:rPr lang="en-IN" smtClean="0"/>
              <a:t>15-11-2025</a:t>
            </a:fld>
            <a:endParaRPr lang="en-IN"/>
          </a:p>
        </p:txBody>
      </p:sp>
      <p:sp>
        <p:nvSpPr>
          <p:cNvPr id="4" name="Footer Placeholder 3">
            <a:extLst>
              <a:ext uri="{FF2B5EF4-FFF2-40B4-BE49-F238E27FC236}">
                <a16:creationId xmlns:a16="http://schemas.microsoft.com/office/drawing/2014/main" id="{7AAD5FF8-91EF-B24D-9626-B60997FBD8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1C5B0E-63C8-7587-3673-D675E161FD53}"/>
              </a:ext>
            </a:extLst>
          </p:cNvPr>
          <p:cNvSpPr>
            <a:spLocks noGrp="1"/>
          </p:cNvSpPr>
          <p:nvPr>
            <p:ph type="sldNum" sz="quarter" idx="12"/>
          </p:nvPr>
        </p:nvSpPr>
        <p:spPr/>
        <p:txBody>
          <a:bodyPr/>
          <a:lstStyle/>
          <a:p>
            <a:fld id="{7782763F-CA60-42A1-A55E-24140553AF27}" type="slidenum">
              <a:rPr lang="en-IN" smtClean="0"/>
              <a:t>‹#›</a:t>
            </a:fld>
            <a:endParaRPr lang="en-IN"/>
          </a:p>
        </p:txBody>
      </p:sp>
      <p:pic>
        <p:nvPicPr>
          <p:cNvPr id="6" name="Picture 5">
            <a:extLst>
              <a:ext uri="{FF2B5EF4-FFF2-40B4-BE49-F238E27FC236}">
                <a16:creationId xmlns:a16="http://schemas.microsoft.com/office/drawing/2014/main" id="{54966988-9A84-19AC-FD56-8EE0DD1D42CB}"/>
              </a:ext>
            </a:extLst>
          </p:cNvPr>
          <p:cNvPicPr>
            <a:picLocks noChangeAspect="1"/>
          </p:cNvPicPr>
          <p:nvPr userDrawn="1"/>
        </p:nvPicPr>
        <p:blipFill>
          <a:blip r:embed="rId2"/>
          <a:stretch>
            <a:fillRect/>
          </a:stretch>
        </p:blipFill>
        <p:spPr>
          <a:xfrm>
            <a:off x="10999305" y="5291192"/>
            <a:ext cx="1109568" cy="1566808"/>
          </a:xfrm>
          <a:prstGeom prst="rect">
            <a:avLst/>
          </a:prstGeom>
        </p:spPr>
      </p:pic>
    </p:spTree>
    <p:extLst>
      <p:ext uri="{BB962C8B-B14F-4D97-AF65-F5344CB8AC3E}">
        <p14:creationId xmlns:p14="http://schemas.microsoft.com/office/powerpoint/2010/main" val="102772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879C-CA36-0915-5C94-DE468657FAA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20235F-4E56-134B-3E90-31D3C1FCAAAF}"/>
              </a:ext>
            </a:extLst>
          </p:cNvPr>
          <p:cNvSpPr>
            <a:spLocks noGrp="1"/>
          </p:cNvSpPr>
          <p:nvPr>
            <p:ph type="dt" sz="half" idx="10"/>
          </p:nvPr>
        </p:nvSpPr>
        <p:spPr/>
        <p:txBody>
          <a:bodyPr/>
          <a:lstStyle/>
          <a:p>
            <a:fld id="{8204F1E9-6A21-4999-AC2C-8259F052B591}" type="datetimeFigureOut">
              <a:rPr lang="en-IN" smtClean="0"/>
              <a:t>15-11-2025</a:t>
            </a:fld>
            <a:endParaRPr lang="en-IN"/>
          </a:p>
        </p:txBody>
      </p:sp>
      <p:sp>
        <p:nvSpPr>
          <p:cNvPr id="4" name="Footer Placeholder 3">
            <a:extLst>
              <a:ext uri="{FF2B5EF4-FFF2-40B4-BE49-F238E27FC236}">
                <a16:creationId xmlns:a16="http://schemas.microsoft.com/office/drawing/2014/main" id="{691EF4FE-F3EF-7446-28B5-84FFD8592A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502AFA-9E50-D7B7-D807-9697A322D485}"/>
              </a:ext>
            </a:extLst>
          </p:cNvPr>
          <p:cNvSpPr>
            <a:spLocks noGrp="1"/>
          </p:cNvSpPr>
          <p:nvPr>
            <p:ph type="sldNum" sz="quarter" idx="12"/>
          </p:nvPr>
        </p:nvSpPr>
        <p:spPr/>
        <p:txBody>
          <a:bodyPr/>
          <a:lstStyle/>
          <a:p>
            <a:fld id="{7782763F-CA60-42A1-A55E-24140553AF27}" type="slidenum">
              <a:rPr lang="en-IN" smtClean="0"/>
              <a:t>‹#›</a:t>
            </a:fld>
            <a:endParaRPr lang="en-IN"/>
          </a:p>
        </p:txBody>
      </p:sp>
    </p:spTree>
    <p:extLst>
      <p:ext uri="{BB962C8B-B14F-4D97-AF65-F5344CB8AC3E}">
        <p14:creationId xmlns:p14="http://schemas.microsoft.com/office/powerpoint/2010/main" val="262188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microsoft.com/office/2007/relationships/hdphoto" Target="../media/hdphoto1.wdp"/><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extLst>
              <a:ext uri="{BEBA8EAE-BF5A-486C-A8C5-ECC9F3942E4B}">
                <a14:imgProps xmlns:a14="http://schemas.microsoft.com/office/drawing/2010/main">
                  <a14:imgLayer r:embed="rId14">
                    <a14:imgEffect>
                      <a14:sharpenSoften amount="-18000"/>
                    </a14:imgEffect>
                    <a14:imgEffect>
                      <a14:brightnessContrast bright="-9000" contrast="2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F9A56-67CB-9554-4188-36ECF8CF35E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44F09B-E663-AC9E-D81B-C679352489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2093E6-CF8B-816C-418E-AA9CD348DAA4}"/>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922A4-D604-444A-B3E4-1EC54A01DDB0}" type="datetimeFigureOut">
              <a:rPr lang="en-IN" smtClean="0"/>
              <a:t>15-11-2025</a:t>
            </a:fld>
            <a:endParaRPr lang="en-IN"/>
          </a:p>
        </p:txBody>
      </p:sp>
      <p:sp>
        <p:nvSpPr>
          <p:cNvPr id="5" name="Footer Placeholder 4">
            <a:extLst>
              <a:ext uri="{FF2B5EF4-FFF2-40B4-BE49-F238E27FC236}">
                <a16:creationId xmlns:a16="http://schemas.microsoft.com/office/drawing/2014/main" id="{30F414B9-A724-1D04-B0E2-71B3530ED20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D22AD9-E006-AC98-6144-4F6A9FCFFFA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8E4635-DCF1-4D51-BD6C-3FFA2C78BEAA}" type="slidenum">
              <a:rPr lang="en-IN" smtClean="0"/>
              <a:t>‹#›</a:t>
            </a:fld>
            <a:endParaRPr lang="en-IN"/>
          </a:p>
        </p:txBody>
      </p:sp>
      <p:pic>
        <p:nvPicPr>
          <p:cNvPr id="7" name="Picture 6">
            <a:extLst>
              <a:ext uri="{FF2B5EF4-FFF2-40B4-BE49-F238E27FC236}">
                <a16:creationId xmlns:a16="http://schemas.microsoft.com/office/drawing/2014/main" id="{885D4734-814C-B5B0-3863-8377F01F1E9E}"/>
              </a:ext>
            </a:extLst>
          </p:cNvPr>
          <p:cNvPicPr>
            <a:picLocks noChangeAspect="1"/>
          </p:cNvPicPr>
          <p:nvPr userDrawn="1"/>
        </p:nvPicPr>
        <p:blipFill>
          <a:blip r:embed="rId15"/>
          <a:stretch>
            <a:fillRect/>
          </a:stretch>
        </p:blipFill>
        <p:spPr>
          <a:xfrm>
            <a:off x="10999305" y="5291192"/>
            <a:ext cx="1109568" cy="1566808"/>
          </a:xfrm>
          <a:prstGeom prst="rect">
            <a:avLst/>
          </a:prstGeom>
        </p:spPr>
      </p:pic>
    </p:spTree>
    <p:extLst>
      <p:ext uri="{BB962C8B-B14F-4D97-AF65-F5344CB8AC3E}">
        <p14:creationId xmlns:p14="http://schemas.microsoft.com/office/powerpoint/2010/main" val="421827135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extLst>
              <a:ext uri="{BEBA8EAE-BF5A-486C-A8C5-ECC9F3942E4B}">
                <a14:imgProps xmlns:a14="http://schemas.microsoft.com/office/drawing/2010/main">
                  <a14:imgLayer r:embed="rId16">
                    <a14:imgEffect>
                      <a14:sharpenSoften amount="-18000"/>
                    </a14:imgEffect>
                    <a14:imgEffect>
                      <a14:brightnessContrast bright="-9000" contrast="2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55B922A4-D604-444A-B3E4-1EC54A01DDB0}" type="datetimeFigureOut">
              <a:rPr lang="en-IN" smtClean="0"/>
              <a:t>15-11-2025</a:t>
            </a:fld>
            <a:endParaRPr lang="en-IN"/>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628E4635-DCF1-4D51-BD6C-3FFA2C78BEAA}" type="slidenum">
              <a:rPr lang="en-IN" smtClean="0"/>
              <a:t>‹#›</a:t>
            </a:fld>
            <a:endParaRPr lang="en-IN"/>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13" r:id="rId12"/>
    <p:sldLayoutId id="214748371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39BA-DFF8-FBC8-E5D1-32E6727BFB2F}"/>
              </a:ext>
            </a:extLst>
          </p:cNvPr>
          <p:cNvSpPr>
            <a:spLocks noGrp="1"/>
          </p:cNvSpPr>
          <p:nvPr>
            <p:ph type="ctrTitle"/>
          </p:nvPr>
        </p:nvSpPr>
        <p:spPr>
          <a:xfrm>
            <a:off x="2401078" y="746449"/>
            <a:ext cx="9144000" cy="1209215"/>
          </a:xfrm>
        </p:spPr>
        <p:txBody>
          <a:bodyPr>
            <a:normAutofit/>
          </a:bodyPr>
          <a:lstStyle/>
          <a:p>
            <a:r>
              <a:rPr lang="en-IN" b="1" dirty="0">
                <a:latin typeface="Times New Roman" panose="02020603050405020304" pitchFamily="18" charset="0"/>
                <a:cs typeface="Times New Roman" panose="02020603050405020304" pitchFamily="18" charset="0"/>
              </a:rPr>
              <a:t>DISEASE RISK PREDICTION</a:t>
            </a:r>
          </a:p>
        </p:txBody>
      </p:sp>
      <p:sp>
        <p:nvSpPr>
          <p:cNvPr id="3" name="Subtitle 2">
            <a:extLst>
              <a:ext uri="{FF2B5EF4-FFF2-40B4-BE49-F238E27FC236}">
                <a16:creationId xmlns:a16="http://schemas.microsoft.com/office/drawing/2014/main" id="{D6FDF157-379B-8574-67C6-025BAA11DE92}"/>
              </a:ext>
            </a:extLst>
          </p:cNvPr>
          <p:cNvSpPr>
            <a:spLocks noGrp="1"/>
          </p:cNvSpPr>
          <p:nvPr>
            <p:ph type="subTitle" idx="1"/>
          </p:nvPr>
        </p:nvSpPr>
        <p:spPr>
          <a:xfrm>
            <a:off x="3048000" y="2214450"/>
            <a:ext cx="9144000" cy="1655762"/>
          </a:xfrm>
        </p:spPr>
        <p:txBody>
          <a:bodyPr/>
          <a:lstStyle/>
          <a:p>
            <a:r>
              <a:rPr lang="en-IN" dirty="0">
                <a:latin typeface="Times New Roman" panose="02020603050405020304" pitchFamily="18" charset="0"/>
                <a:cs typeface="Times New Roman" panose="02020603050405020304" pitchFamily="18" charset="0"/>
              </a:rPr>
              <a:t> Machine learning approach for disease prediction</a:t>
            </a: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351EC6A-816C-BEF7-D203-8B9E9698F920}"/>
              </a:ext>
            </a:extLst>
          </p:cNvPr>
          <p:cNvSpPr txBox="1"/>
          <p:nvPr/>
        </p:nvSpPr>
        <p:spPr>
          <a:xfrm>
            <a:off x="9320982" y="4778479"/>
            <a:ext cx="2694039" cy="92333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b="1" dirty="0">
                <a:latin typeface="Times New Roman" panose="02020603050405020304" pitchFamily="18" charset="0"/>
                <a:cs typeface="Times New Roman" panose="02020603050405020304" pitchFamily="18" charset="0"/>
              </a:rPr>
              <a:t>Presented by:</a:t>
            </a:r>
          </a:p>
          <a:p>
            <a:r>
              <a:rPr lang="en-IN" b="1" dirty="0" err="1">
                <a:latin typeface="Times New Roman" panose="02020603050405020304" pitchFamily="18" charset="0"/>
                <a:cs typeface="Times New Roman" panose="02020603050405020304" pitchFamily="18" charset="0"/>
              </a:rPr>
              <a:t>Amala</a:t>
            </a:r>
            <a:r>
              <a:rPr lang="en-IN" b="1" dirty="0">
                <a:latin typeface="Times New Roman" panose="02020603050405020304" pitchFamily="18" charset="0"/>
                <a:cs typeface="Times New Roman" panose="02020603050405020304" pitchFamily="18" charset="0"/>
              </a:rPr>
              <a:t> Joseph</a:t>
            </a:r>
          </a:p>
          <a:p>
            <a:endParaRPr lang="en-IN"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594" y="2954344"/>
            <a:ext cx="5656425" cy="364827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9176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3B634-2504-D19E-DBBD-26027B19DA8F}"/>
              </a:ext>
            </a:extLst>
          </p:cNvPr>
          <p:cNvSpPr>
            <a:spLocks noGrp="1"/>
          </p:cNvSpPr>
          <p:nvPr>
            <p:ph type="title"/>
          </p:nvPr>
        </p:nvSpPr>
        <p:spPr>
          <a:xfrm>
            <a:off x="1375131" y="188011"/>
            <a:ext cx="9997440" cy="1143000"/>
          </a:xfrm>
        </p:spPr>
        <p:txBody>
          <a:bodyPr/>
          <a:lstStyle/>
          <a:p>
            <a:r>
              <a:rPr lang="en-IN"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88969907-5822-0DC6-C399-534868671C94}"/>
              </a:ext>
            </a:extLst>
          </p:cNvPr>
          <p:cNvSpPr>
            <a:spLocks noGrp="1"/>
          </p:cNvSpPr>
          <p:nvPr>
            <p:ph idx="1"/>
          </p:nvPr>
        </p:nvSpPr>
        <p:spPr>
          <a:xfrm>
            <a:off x="1357964" y="1377965"/>
            <a:ext cx="10515600" cy="5201264"/>
          </a:xfrm>
        </p:spPr>
        <p:txBody>
          <a:bodyPr/>
          <a:lstStyle/>
          <a:p>
            <a:r>
              <a:rPr lang="en-US" sz="2400" dirty="0">
                <a:latin typeface="Times New Roman" panose="02020603050405020304" pitchFamily="18" charset="0"/>
                <a:cs typeface="Times New Roman" panose="02020603050405020304" pitchFamily="18" charset="0"/>
              </a:rPr>
              <a:t>To develop a data-driven machine learning model that predicts the likelihood of disease risk based on patient attributes such as </a:t>
            </a:r>
            <a:r>
              <a:rPr lang="en-US" sz="2400" dirty="0" err="1">
                <a:latin typeface="Times New Roman" panose="02020603050405020304" pitchFamily="18" charset="0"/>
                <a:cs typeface="Times New Roman" panose="02020603050405020304" pitchFamily="18" charset="0"/>
              </a:rPr>
              <a:t>age,gender,lifestyle,and</a:t>
            </a:r>
            <a:r>
              <a:rPr lang="en-US" sz="2400" dirty="0">
                <a:latin typeface="Times New Roman" panose="02020603050405020304" pitchFamily="18" charset="0"/>
                <a:cs typeface="Times New Roman" panose="02020603050405020304" pitchFamily="18" charset="0"/>
              </a:rPr>
              <a:t> health </a:t>
            </a:r>
            <a:r>
              <a:rPr lang="en-US" sz="2400" dirty="0" err="1">
                <a:latin typeface="Times New Roman" panose="02020603050405020304" pitchFamily="18" charset="0"/>
                <a:cs typeface="Times New Roman" panose="02020603050405020304" pitchFamily="18" charset="0"/>
              </a:rPr>
              <a:t>indicators.The</a:t>
            </a:r>
            <a:r>
              <a:rPr lang="en-US" sz="2400" dirty="0">
                <a:latin typeface="Times New Roman" panose="02020603050405020304" pitchFamily="18" charset="0"/>
                <a:cs typeface="Times New Roman" panose="02020603050405020304" pitchFamily="18" charset="0"/>
              </a:rPr>
              <a:t> model aims to support early diagnosis and assist healthcare professionals in decision-making.</a:t>
            </a:r>
          </a:p>
          <a:p>
            <a:endParaRPr lang="en-US"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OVERVIEW STEPS</a:t>
            </a:r>
          </a:p>
          <a:p>
            <a:r>
              <a:rPr lang="en-US" sz="2400" dirty="0">
                <a:latin typeface="Times New Roman" panose="02020603050405020304" pitchFamily="18" charset="0"/>
                <a:cs typeface="Times New Roman" panose="02020603050405020304" pitchFamily="18" charset="0"/>
              </a:rPr>
              <a:t> Understanding the problem</a:t>
            </a:r>
          </a:p>
          <a:p>
            <a:r>
              <a:rPr lang="en-US" sz="2400" dirty="0">
                <a:latin typeface="Times New Roman" panose="02020603050405020304" pitchFamily="18" charset="0"/>
                <a:cs typeface="Times New Roman" panose="02020603050405020304" pitchFamily="18" charset="0"/>
              </a:rPr>
              <a:t> Dataset collection and preprocessing</a:t>
            </a:r>
          </a:p>
          <a:p>
            <a:r>
              <a:rPr lang="en-US" sz="2400" dirty="0">
                <a:latin typeface="Times New Roman" panose="02020603050405020304" pitchFamily="18" charset="0"/>
                <a:cs typeface="Times New Roman" panose="02020603050405020304" pitchFamily="18" charset="0"/>
              </a:rPr>
              <a:t> Exploratory data analysis</a:t>
            </a:r>
          </a:p>
          <a:p>
            <a:r>
              <a:rPr lang="en-US" sz="2400" dirty="0">
                <a:latin typeface="Times New Roman" panose="02020603050405020304" pitchFamily="18" charset="0"/>
                <a:cs typeface="Times New Roman" panose="02020603050405020304" pitchFamily="18" charset="0"/>
              </a:rPr>
              <a:t> Model development and evaluation</a:t>
            </a:r>
          </a:p>
          <a:p>
            <a:r>
              <a:rPr lang="en-US" sz="2400" dirty="0">
                <a:latin typeface="Times New Roman" panose="02020603050405020304" pitchFamily="18" charset="0"/>
                <a:cs typeface="Times New Roman" panose="02020603050405020304" pitchFamily="18" charset="0"/>
              </a:rPr>
              <a:t> Model deployment and conclusion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1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16E57-49FA-4853-943B-31BEF76D85F6}"/>
              </a:ext>
            </a:extLst>
          </p:cNvPr>
          <p:cNvSpPr>
            <a:spLocks noGrp="1"/>
          </p:cNvSpPr>
          <p:nvPr>
            <p:ph type="title"/>
          </p:nvPr>
        </p:nvSpPr>
        <p:spPr>
          <a:xfrm>
            <a:off x="1463843" y="237307"/>
            <a:ext cx="10515600" cy="1060552"/>
          </a:xfrm>
        </p:spPr>
        <p:txBody>
          <a:bodyPr/>
          <a:lstStyle/>
          <a:p>
            <a:r>
              <a:rPr lang="en-IN" dirty="0">
                <a:latin typeface="Times New Roman" panose="02020603050405020304" pitchFamily="18" charset="0"/>
                <a:cs typeface="Times New Roman" panose="02020603050405020304" pitchFamily="18" charset="0"/>
              </a:rPr>
              <a:t>CHOOSING A DATASET</a:t>
            </a:r>
          </a:p>
        </p:txBody>
      </p:sp>
      <p:sp>
        <p:nvSpPr>
          <p:cNvPr id="3" name="Content Placeholder 2">
            <a:extLst>
              <a:ext uri="{FF2B5EF4-FFF2-40B4-BE49-F238E27FC236}">
                <a16:creationId xmlns:a16="http://schemas.microsoft.com/office/drawing/2014/main" id="{99B0C884-0F9A-E3FC-6263-E96B63D51384}"/>
              </a:ext>
            </a:extLst>
          </p:cNvPr>
          <p:cNvSpPr>
            <a:spLocks noGrp="1"/>
          </p:cNvSpPr>
          <p:nvPr>
            <p:ph idx="1"/>
          </p:nvPr>
        </p:nvSpPr>
        <p:spPr>
          <a:xfrm>
            <a:off x="1384544" y="1410930"/>
            <a:ext cx="10714704" cy="5447070"/>
          </a:xfrm>
        </p:spPr>
        <p:txBody>
          <a:bodyPr>
            <a:normAutofit/>
          </a:bodyPr>
          <a:lstStyle/>
          <a:p>
            <a:r>
              <a:rPr lang="en-IN" sz="2400" dirty="0">
                <a:latin typeface="Times New Roman" panose="02020603050405020304" pitchFamily="18" charset="0"/>
                <a:cs typeface="Times New Roman" panose="02020603050405020304" pitchFamily="18" charset="0"/>
              </a:rPr>
              <a:t>The dataset carefully chosen to include important medical and lifestyle indicators.</a:t>
            </a:r>
          </a:p>
          <a:p>
            <a:r>
              <a:rPr lang="en-IN" sz="2400" dirty="0">
                <a:latin typeface="Times New Roman" panose="02020603050405020304" pitchFamily="18" charset="0"/>
                <a:cs typeface="Times New Roman" panose="02020603050405020304" pitchFamily="18" charset="0"/>
              </a:rPr>
              <a:t>It contain features such as;</a:t>
            </a:r>
          </a:p>
          <a:p>
            <a:pPr marL="82296"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Age,Gender</a:t>
            </a:r>
            <a:r>
              <a:rPr lang="en-IN" sz="2400" dirty="0">
                <a:latin typeface="Times New Roman" panose="02020603050405020304" pitchFamily="18" charset="0"/>
                <a:cs typeface="Times New Roman" panose="02020603050405020304" pitchFamily="18" charset="0"/>
              </a:rPr>
              <a:t> – to capture demographic factors.</a:t>
            </a:r>
          </a:p>
          <a:p>
            <a:pPr marL="82296" indent="0">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BP,cholesterol,BMI</a:t>
            </a:r>
            <a:r>
              <a:rPr lang="en-IN" sz="2400" dirty="0">
                <a:latin typeface="Times New Roman" panose="02020603050405020304" pitchFamily="18" charset="0"/>
                <a:cs typeface="Times New Roman" panose="02020603050405020304" pitchFamily="18" charset="0"/>
              </a:rPr>
              <a:t> – to represent key health measurements.</a:t>
            </a:r>
          </a:p>
          <a:p>
            <a:pPr marL="82296" indent="0">
              <a:buNone/>
            </a:pPr>
            <a:r>
              <a:rPr lang="en-IN" sz="2400" dirty="0">
                <a:latin typeface="Times New Roman" panose="02020603050405020304" pitchFamily="18" charset="0"/>
                <a:cs typeface="Times New Roman" panose="02020603050405020304" pitchFamily="18" charset="0"/>
              </a:rPr>
              <a:t>   Lifestyle factors – such as physical </a:t>
            </a:r>
            <a:r>
              <a:rPr lang="en-IN" sz="2400" dirty="0" err="1">
                <a:latin typeface="Times New Roman" panose="02020603050405020304" pitchFamily="18" charset="0"/>
                <a:cs typeface="Times New Roman" panose="02020603050405020304" pitchFamily="18" charset="0"/>
              </a:rPr>
              <a:t>activity,smoking,and</a:t>
            </a:r>
            <a:r>
              <a:rPr lang="en-IN" sz="2400" dirty="0">
                <a:latin typeface="Times New Roman" panose="02020603050405020304" pitchFamily="18" charset="0"/>
                <a:cs typeface="Times New Roman" panose="02020603050405020304" pitchFamily="18" charset="0"/>
              </a:rPr>
              <a:t> diet habits.</a:t>
            </a:r>
          </a:p>
          <a:p>
            <a:r>
              <a:rPr lang="en-IN" sz="2400" dirty="0">
                <a:latin typeface="Times New Roman" panose="02020603050405020304" pitchFamily="18" charset="0"/>
                <a:cs typeface="Times New Roman" panose="02020603050405020304" pitchFamily="18" charset="0"/>
              </a:rPr>
              <a:t>These attributes help the machine learning model understand complex patterns and predict disease risk accurately.</a:t>
            </a:r>
          </a:p>
          <a:p>
            <a:r>
              <a:rPr lang="en-IN" sz="2400" dirty="0">
                <a:latin typeface="Times New Roman" panose="02020603050405020304" pitchFamily="18" charset="0"/>
                <a:cs typeface="Times New Roman" panose="02020603050405020304" pitchFamily="18" charset="0"/>
              </a:rPr>
              <a:t>The dataset obtained from KAGGLE</a:t>
            </a:r>
          </a:p>
          <a:p>
            <a:pPr marL="82296" indent="0">
              <a:buNone/>
            </a:pPr>
            <a:endParaRPr lang="en-IN" sz="2400" dirty="0">
              <a:latin typeface="Times New Roman" panose="02020603050405020304" pitchFamily="18" charset="0"/>
              <a:cs typeface="Times New Roman" panose="02020603050405020304" pitchFamily="18" charset="0"/>
            </a:endParaRPr>
          </a:p>
          <a:p>
            <a:pPr marL="82296" indent="0">
              <a:buNone/>
            </a:pP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312866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B173CB-DF4B-811E-8157-69030D193738}"/>
              </a:ext>
            </a:extLst>
          </p:cNvPr>
          <p:cNvSpPr>
            <a:spLocks noGrp="1"/>
          </p:cNvSpPr>
          <p:nvPr>
            <p:ph idx="1"/>
          </p:nvPr>
        </p:nvSpPr>
        <p:spPr>
          <a:xfrm>
            <a:off x="1358848" y="176178"/>
            <a:ext cx="10515600" cy="6681822"/>
          </a:xfrm>
        </p:spPr>
        <p:txBody>
          <a:bodyPr>
            <a:normAutofit fontScale="40000" lnSpcReduction="20000"/>
          </a:bodyPr>
          <a:lstStyle/>
          <a:p>
            <a:pPr marL="0" indent="0">
              <a:lnSpc>
                <a:spcPct val="150000"/>
              </a:lnSpc>
              <a:buNone/>
            </a:pPr>
            <a:r>
              <a:rPr lang="en-IN" sz="4000" b="1" u="sng" dirty="0">
                <a:latin typeface="Times New Roman" panose="02020603050405020304" pitchFamily="18" charset="0"/>
                <a:cs typeface="Times New Roman" panose="02020603050405020304" pitchFamily="18" charset="0"/>
              </a:rPr>
              <a:t>FEATURES</a:t>
            </a:r>
          </a:p>
          <a:p>
            <a:pPr marL="342900" indent="-342900">
              <a:lnSpc>
                <a:spcPct val="150000"/>
              </a:lnSpc>
            </a:pPr>
            <a:r>
              <a:rPr lang="en-US" sz="4000" dirty="0">
                <a:latin typeface="Times New Roman" panose="02020603050405020304" pitchFamily="18" charset="0"/>
                <a:cs typeface="Times New Roman" panose="02020603050405020304" pitchFamily="18" charset="0"/>
              </a:rPr>
              <a:t>Age</a:t>
            </a:r>
          </a:p>
          <a:p>
            <a:pPr marL="342900" indent="-342900">
              <a:lnSpc>
                <a:spcPct val="150000"/>
              </a:lnSpc>
            </a:pPr>
            <a:r>
              <a:rPr lang="en-US" sz="4000" dirty="0">
                <a:latin typeface="Times New Roman" panose="02020603050405020304" pitchFamily="18" charset="0"/>
                <a:cs typeface="Times New Roman" panose="02020603050405020304" pitchFamily="18" charset="0"/>
              </a:rPr>
              <a:t>Gender </a:t>
            </a:r>
          </a:p>
          <a:p>
            <a:pPr marL="342900" indent="-342900">
              <a:lnSpc>
                <a:spcPct val="150000"/>
              </a:lnSpc>
            </a:pPr>
            <a:r>
              <a:rPr lang="en-US" sz="4000" dirty="0">
                <a:latin typeface="Times New Roman" panose="02020603050405020304" pitchFamily="18" charset="0"/>
                <a:cs typeface="Times New Roman" panose="02020603050405020304" pitchFamily="18" charset="0"/>
              </a:rPr>
              <a:t>BMI</a:t>
            </a:r>
          </a:p>
          <a:p>
            <a:pPr marL="342900" indent="-342900">
              <a:lnSpc>
                <a:spcPct val="150000"/>
              </a:lnSpc>
            </a:pPr>
            <a:r>
              <a:rPr lang="en-US" sz="4000" dirty="0">
                <a:latin typeface="Times New Roman" panose="02020603050405020304" pitchFamily="18" charset="0"/>
                <a:cs typeface="Times New Roman" panose="02020603050405020304" pitchFamily="18" charset="0"/>
              </a:rPr>
              <a:t>Daily steps</a:t>
            </a:r>
          </a:p>
          <a:p>
            <a:pPr marL="342900" indent="-342900">
              <a:lnSpc>
                <a:spcPct val="150000"/>
              </a:lnSpc>
            </a:pPr>
            <a:r>
              <a:rPr lang="en-US" sz="4000" dirty="0">
                <a:latin typeface="Times New Roman" panose="02020603050405020304" pitchFamily="18" charset="0"/>
                <a:cs typeface="Times New Roman" panose="02020603050405020304" pitchFamily="18" charset="0"/>
              </a:rPr>
              <a:t>Sleep hours</a:t>
            </a:r>
          </a:p>
          <a:p>
            <a:pPr marL="342900" indent="-342900">
              <a:lnSpc>
                <a:spcPct val="150000"/>
              </a:lnSpc>
            </a:pPr>
            <a:r>
              <a:rPr lang="en-US" sz="4000" dirty="0">
                <a:latin typeface="Times New Roman" panose="02020603050405020304" pitchFamily="18" charset="0"/>
                <a:cs typeface="Times New Roman" panose="02020603050405020304" pitchFamily="18" charset="0"/>
              </a:rPr>
              <a:t>Water intake</a:t>
            </a:r>
          </a:p>
          <a:p>
            <a:pPr marL="342900" indent="-342900">
              <a:lnSpc>
                <a:spcPct val="150000"/>
              </a:lnSpc>
            </a:pPr>
            <a:r>
              <a:rPr lang="en-US" sz="4000" dirty="0">
                <a:latin typeface="Times New Roman" panose="02020603050405020304" pitchFamily="18" charset="0"/>
                <a:cs typeface="Times New Roman" panose="02020603050405020304" pitchFamily="18" charset="0"/>
              </a:rPr>
              <a:t>Calories consumed</a:t>
            </a:r>
          </a:p>
          <a:p>
            <a:pPr marL="342900" indent="-342900">
              <a:lnSpc>
                <a:spcPct val="150000"/>
              </a:lnSpc>
            </a:pPr>
            <a:r>
              <a:rPr lang="en-US" sz="4000" dirty="0">
                <a:latin typeface="Times New Roman" panose="02020603050405020304" pitchFamily="18" charset="0"/>
                <a:cs typeface="Times New Roman" panose="02020603050405020304" pitchFamily="18" charset="0"/>
              </a:rPr>
              <a:t>Smoker</a:t>
            </a:r>
          </a:p>
          <a:p>
            <a:pPr marL="342900" indent="-342900">
              <a:lnSpc>
                <a:spcPct val="150000"/>
              </a:lnSpc>
            </a:pPr>
            <a:r>
              <a:rPr lang="en-US" sz="4000" dirty="0">
                <a:latin typeface="Times New Roman" panose="02020603050405020304" pitchFamily="18" charset="0"/>
                <a:cs typeface="Times New Roman" panose="02020603050405020304" pitchFamily="18" charset="0"/>
              </a:rPr>
              <a:t>Alcohol</a:t>
            </a:r>
          </a:p>
          <a:p>
            <a:pPr marL="342900" indent="-342900">
              <a:lnSpc>
                <a:spcPct val="150000"/>
              </a:lnSpc>
            </a:pPr>
            <a:r>
              <a:rPr lang="en-US" sz="4000" dirty="0">
                <a:latin typeface="Times New Roman" panose="02020603050405020304" pitchFamily="18" charset="0"/>
                <a:cs typeface="Times New Roman" panose="02020603050405020304" pitchFamily="18" charset="0"/>
              </a:rPr>
              <a:t>Resting hour</a:t>
            </a:r>
          </a:p>
          <a:p>
            <a:pPr marL="342900" indent="-342900">
              <a:lnSpc>
                <a:spcPct val="150000"/>
              </a:lnSpc>
            </a:pPr>
            <a:r>
              <a:rPr lang="en-US" sz="4000" dirty="0">
                <a:latin typeface="Times New Roman" panose="02020603050405020304" pitchFamily="18" charset="0"/>
                <a:cs typeface="Times New Roman" panose="02020603050405020304" pitchFamily="18" charset="0"/>
              </a:rPr>
              <a:t>Systolic BP</a:t>
            </a:r>
          </a:p>
          <a:p>
            <a:pPr marL="342900" indent="-342900">
              <a:lnSpc>
                <a:spcPct val="150000"/>
              </a:lnSpc>
            </a:pPr>
            <a:r>
              <a:rPr lang="en-US" sz="4000" dirty="0">
                <a:latin typeface="Times New Roman" panose="02020603050405020304" pitchFamily="18" charset="0"/>
                <a:cs typeface="Times New Roman" panose="02020603050405020304" pitchFamily="18" charset="0"/>
              </a:rPr>
              <a:t>Diastolic BP</a:t>
            </a:r>
          </a:p>
          <a:p>
            <a:pPr marL="342900" indent="-342900">
              <a:lnSpc>
                <a:spcPct val="150000"/>
              </a:lnSpc>
            </a:pPr>
            <a:r>
              <a:rPr lang="en-US" sz="4000" dirty="0">
                <a:latin typeface="Times New Roman" panose="02020603050405020304" pitchFamily="18" charset="0"/>
                <a:cs typeface="Times New Roman" panose="02020603050405020304" pitchFamily="18" charset="0"/>
              </a:rPr>
              <a:t>Cholesterol</a:t>
            </a:r>
          </a:p>
          <a:p>
            <a:pPr marL="342900" indent="-342900">
              <a:lnSpc>
                <a:spcPct val="150000"/>
              </a:lnSpc>
            </a:pPr>
            <a:r>
              <a:rPr lang="en-US" sz="4000" dirty="0">
                <a:latin typeface="Times New Roman" panose="02020603050405020304" pitchFamily="18" charset="0"/>
                <a:cs typeface="Times New Roman" panose="02020603050405020304" pitchFamily="18" charset="0"/>
              </a:rPr>
              <a:t>Family history</a:t>
            </a:r>
            <a:endParaRPr lang="en-IN" sz="4000" dirty="0">
              <a:latin typeface="Times New Roman" panose="02020603050405020304" pitchFamily="18" charset="0"/>
              <a:cs typeface="Times New Roman" panose="02020603050405020304" pitchFamily="18" charset="0"/>
            </a:endParaRPr>
          </a:p>
          <a:p>
            <a:pPr marL="0" indent="0">
              <a:buNone/>
            </a:pPr>
            <a:endParaRPr lang="en-IN" sz="3300" b="1" dirty="0">
              <a:latin typeface="Times New Roman" panose="02020603050405020304" pitchFamily="18" charset="0"/>
              <a:cs typeface="Times New Roman" panose="02020603050405020304" pitchFamily="18" charset="0"/>
            </a:endParaRPr>
          </a:p>
          <a:p>
            <a:pPr marL="0" indent="0">
              <a:buNone/>
            </a:pPr>
            <a:r>
              <a:rPr lang="en-IN" sz="4000" dirty="0">
                <a:latin typeface="Times New Roman" panose="02020603050405020304" pitchFamily="18" charset="0"/>
                <a:cs typeface="Times New Roman" panose="02020603050405020304" pitchFamily="18" charset="0"/>
              </a:rPr>
              <a:t>Number of rows in the dataset are 13477</a:t>
            </a:r>
            <a:r>
              <a:rPr lang="en-IN" sz="2400" dirty="0">
                <a:latin typeface="Times New Roman" panose="02020603050405020304" pitchFamily="18" charset="0"/>
                <a:cs typeface="Times New Roman" panose="02020603050405020304" pitchFamily="18" charset="0"/>
              </a:rPr>
              <a:t>.</a:t>
            </a:r>
          </a:p>
          <a:p>
            <a:pPr marL="0" indent="0">
              <a:buNone/>
            </a:pPr>
            <a:endParaRPr lang="en-IN"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AB6C15C-4290-3308-E0E9-2C7E118D4738}"/>
              </a:ext>
            </a:extLst>
          </p:cNvPr>
          <p:cNvSpPr txBox="1"/>
          <p:nvPr/>
        </p:nvSpPr>
        <p:spPr>
          <a:xfrm>
            <a:off x="7777316" y="82872"/>
            <a:ext cx="2821859" cy="3277820"/>
          </a:xfrm>
          <a:prstGeom prst="rect">
            <a:avLst/>
          </a:prstGeom>
          <a:noFill/>
        </p:spPr>
        <p:txBody>
          <a:bodyPr wrap="square" rtlCol="0">
            <a:spAutoFit/>
          </a:bodyPr>
          <a:lstStyle/>
          <a:p>
            <a:pPr>
              <a:lnSpc>
                <a:spcPct val="150000"/>
              </a:lnSpc>
            </a:pPr>
            <a:r>
              <a:rPr lang="en-IN" b="1" u="sng" dirty="0">
                <a:latin typeface="Times New Roman" panose="02020603050405020304" pitchFamily="18" charset="0"/>
                <a:cs typeface="Times New Roman" panose="02020603050405020304" pitchFamily="18" charset="0"/>
              </a:rPr>
              <a:t>TARGET</a:t>
            </a:r>
          </a:p>
          <a:p>
            <a:pPr marL="342900" indent="-34290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Disease risk</a:t>
            </a: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797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4B08F-347A-8320-42F6-5588A0155B97}"/>
              </a:ext>
            </a:extLst>
          </p:cNvPr>
          <p:cNvSpPr>
            <a:spLocks noGrp="1"/>
          </p:cNvSpPr>
          <p:nvPr>
            <p:ph type="title"/>
          </p:nvPr>
        </p:nvSpPr>
        <p:spPr>
          <a:xfrm>
            <a:off x="1396465" y="374751"/>
            <a:ext cx="10515600" cy="972062"/>
          </a:xfrm>
        </p:spPr>
        <p:txBody>
          <a:bodyPr/>
          <a:lstStyle/>
          <a:p>
            <a:r>
              <a:rPr lang="en-IN" dirty="0">
                <a:latin typeface="Times New Roman" panose="02020603050405020304" pitchFamily="18" charset="0"/>
                <a:cs typeface="Times New Roman" panose="02020603050405020304" pitchFamily="18" charset="0"/>
              </a:rPr>
              <a:t>UNDERSTANDING THE PROBLEM</a:t>
            </a:r>
          </a:p>
        </p:txBody>
      </p:sp>
      <p:sp>
        <p:nvSpPr>
          <p:cNvPr id="3" name="Content Placeholder 2">
            <a:extLst>
              <a:ext uri="{FF2B5EF4-FFF2-40B4-BE49-F238E27FC236}">
                <a16:creationId xmlns:a16="http://schemas.microsoft.com/office/drawing/2014/main" id="{7D996807-C0A8-C227-D54B-A33BA665C84E}"/>
              </a:ext>
            </a:extLst>
          </p:cNvPr>
          <p:cNvSpPr>
            <a:spLocks noGrp="1"/>
          </p:cNvSpPr>
          <p:nvPr>
            <p:ph idx="1"/>
          </p:nvPr>
        </p:nvSpPr>
        <p:spPr>
          <a:xfrm>
            <a:off x="1424540" y="1308312"/>
            <a:ext cx="10535653" cy="5260258"/>
          </a:xfrm>
        </p:spPr>
        <p:txBody>
          <a:bodyPr>
            <a:normAutofit/>
          </a:bodyPr>
          <a:lstStyle/>
          <a:p>
            <a:pPr marL="0" indent="0">
              <a:buNone/>
            </a:pPr>
            <a:r>
              <a:rPr lang="en-IN" b="1" u="sng" dirty="0">
                <a:latin typeface="Times New Roman" panose="02020603050405020304" pitchFamily="18" charset="0"/>
                <a:cs typeface="Times New Roman" panose="02020603050405020304" pitchFamily="18" charset="0"/>
              </a:rPr>
              <a:t>Problem definition</a:t>
            </a:r>
            <a:endParaRPr lang="en-IN" sz="2200" b="1" u="sng"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Inaccurate or incomplete understanding of individual health characteristics often leads to delayed diagnosis and poor treatment decisions. This lack of personalized analysis and results in ineffective health management, recurring medical issues ,and increased healthcare costs. There is a need for reliable, data-driven system to accurately predict disease risk and support preventive healthcare decisions.</a:t>
            </a:r>
          </a:p>
          <a:p>
            <a:pPr marL="0" indent="0">
              <a:buNone/>
            </a:pPr>
            <a:r>
              <a:rPr lang="en-US" b="1" u="sng" dirty="0">
                <a:latin typeface="Times New Roman" panose="02020603050405020304" pitchFamily="18" charset="0"/>
                <a:cs typeface="Times New Roman" panose="02020603050405020304" pitchFamily="18" charset="0"/>
              </a:rPr>
              <a:t>Importance</a:t>
            </a:r>
            <a:r>
              <a:rPr lang="en-IN" sz="2200" dirty="0">
                <a:latin typeface="Times New Roman" panose="02020603050405020304" pitchFamily="18" charset="0"/>
                <a:cs typeface="Times New Roman" panose="02020603050405020304" pitchFamily="18" charset="0"/>
              </a:rPr>
              <a:t>  </a:t>
            </a:r>
          </a:p>
          <a:p>
            <a:pPr marL="0" indent="0">
              <a:buNone/>
            </a:pPr>
            <a:r>
              <a:rPr lang="en-US" sz="2200" dirty="0">
                <a:latin typeface="Times New Roman" panose="02020603050405020304" pitchFamily="18" charset="0"/>
                <a:cs typeface="Times New Roman" panose="02020603050405020304" pitchFamily="18" charset="0"/>
              </a:rPr>
              <a:t>Accurate disease risk prediction is essential for early diagnosis ,effective treatment planning and overall public health improvement. It empowers doctors and patients to make informed decisions ,promotes awareness about health factors, and reduces the burden of undetected diseases. It also supports healthcare organizations in optimizing preventive strategies and improving patient outcomes.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17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510A7-249A-9962-ACD4-5B1C47A85A9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PREPROCESSING</a:t>
            </a:r>
          </a:p>
        </p:txBody>
      </p:sp>
      <p:sp>
        <p:nvSpPr>
          <p:cNvPr id="3" name="Content Placeholder 2">
            <a:extLst>
              <a:ext uri="{FF2B5EF4-FFF2-40B4-BE49-F238E27FC236}">
                <a16:creationId xmlns:a16="http://schemas.microsoft.com/office/drawing/2014/main" id="{90D479B0-3D2B-7198-6F92-8C5F8EDEC5BF}"/>
              </a:ext>
            </a:extLst>
          </p:cNvPr>
          <p:cNvSpPr>
            <a:spLocks noGrp="1"/>
          </p:cNvSpPr>
          <p:nvPr>
            <p:ph idx="1"/>
          </p:nvPr>
        </p:nvSpPr>
        <p:spPr/>
        <p:txBody>
          <a:bodyPr>
            <a:normAutofit/>
          </a:bodyPr>
          <a:lstStyle/>
          <a:p>
            <a:r>
              <a:rPr lang="en-IN" b="1" dirty="0">
                <a:latin typeface="Times New Roman" panose="02020603050405020304" pitchFamily="18" charset="0"/>
                <a:cs typeface="Times New Roman" panose="02020603050405020304" pitchFamily="18" charset="0"/>
              </a:rPr>
              <a:t>Data cleaning</a:t>
            </a: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No null values were found on the dataset.</a:t>
            </a:r>
          </a:p>
          <a:p>
            <a:r>
              <a:rPr lang="en-IN" sz="3000" b="1" dirty="0">
                <a:latin typeface="Times New Roman" panose="02020603050405020304" pitchFamily="18" charset="0"/>
                <a:cs typeface="Times New Roman" panose="02020603050405020304" pitchFamily="18" charset="0"/>
              </a:rPr>
              <a:t>Outlier Treatment</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Removed outliers and plotted boxplot after outlier removal.</a:t>
            </a:r>
          </a:p>
          <a:p>
            <a:r>
              <a:rPr lang="en-IN" b="1" dirty="0">
                <a:latin typeface="Times New Roman" panose="02020603050405020304" pitchFamily="18" charset="0"/>
                <a:cs typeface="Times New Roman" panose="02020603050405020304" pitchFamily="18" charset="0"/>
              </a:rPr>
              <a:t>Data Transformation</a:t>
            </a:r>
            <a:r>
              <a:rPr lang="en-IN"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LabelEncoder</a:t>
            </a:r>
            <a:endParaRPr lang="en-IN"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Label Encoding </a:t>
            </a:r>
            <a:r>
              <a:rPr lang="en-US" sz="2400" dirty="0">
                <a:latin typeface="Times New Roman" panose="02020603050405020304" pitchFamily="18" charset="0"/>
                <a:cs typeface="Times New Roman" panose="02020603050405020304" pitchFamily="18" charset="0"/>
              </a:rPr>
              <a:t>is a technique used in data preprocessing to convert categorical  variables into numerical values. This transformation is essential for machine learning models that require numerical input to  perform calculations</a:t>
            </a:r>
            <a:r>
              <a:rPr lang="en-US"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It is applied to feature ‘Gender’.</a:t>
            </a:r>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Scaling</a:t>
            </a:r>
            <a:r>
              <a:rPr lang="en-IN"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Applied </a:t>
            </a:r>
            <a:r>
              <a:rPr lang="en-IN" sz="2400" dirty="0" err="1">
                <a:latin typeface="Times New Roman" panose="02020603050405020304" pitchFamily="18" charset="0"/>
                <a:cs typeface="Times New Roman" panose="02020603050405020304" pitchFamily="18" charset="0"/>
              </a:rPr>
              <a:t>StandardScaler</a:t>
            </a:r>
            <a:r>
              <a:rPr lang="en-IN" sz="2400" dirty="0">
                <a:latin typeface="Times New Roman" panose="02020603050405020304" pitchFamily="18" charset="0"/>
                <a:cs typeface="Times New Roman" panose="02020603050405020304" pitchFamily="18" charset="0"/>
              </a:rPr>
              <a:t> for normalization.</a:t>
            </a:r>
          </a:p>
          <a:p>
            <a:r>
              <a:rPr lang="en-IN" sz="2400" b="1" dirty="0">
                <a:latin typeface="Times New Roman" panose="02020603050405020304" pitchFamily="18" charset="0"/>
                <a:cs typeface="Times New Roman" panose="02020603050405020304" pitchFamily="18" charset="0"/>
              </a:rPr>
              <a:t>Splitting dataset into training and testing sets.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0735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DAAC6-917E-672E-B402-D557B9F42E31}"/>
              </a:ext>
            </a:extLst>
          </p:cNvPr>
          <p:cNvSpPr>
            <a:spLocks noGrp="1"/>
          </p:cNvSpPr>
          <p:nvPr>
            <p:ph type="title"/>
          </p:nvPr>
        </p:nvSpPr>
        <p:spPr>
          <a:xfrm>
            <a:off x="1396465" y="-114300"/>
            <a:ext cx="10515600" cy="854075"/>
          </a:xfrm>
        </p:spPr>
        <p:txBody>
          <a:bodyPr>
            <a:normAutofit/>
          </a:bodyPr>
          <a:lstStyle/>
          <a:p>
            <a:r>
              <a:rPr lang="en-IN" sz="4000" dirty="0">
                <a:latin typeface="Times New Roman" panose="02020603050405020304" pitchFamily="18" charset="0"/>
                <a:cs typeface="Times New Roman" panose="02020603050405020304" pitchFamily="18" charset="0"/>
              </a:rPr>
              <a:t>EXPLORATORY DATA ANALYSIS (EDA)</a:t>
            </a:r>
          </a:p>
        </p:txBody>
      </p:sp>
      <p:sp>
        <p:nvSpPr>
          <p:cNvPr id="3" name="Content Placeholder 2">
            <a:extLst>
              <a:ext uri="{FF2B5EF4-FFF2-40B4-BE49-F238E27FC236}">
                <a16:creationId xmlns:a16="http://schemas.microsoft.com/office/drawing/2014/main" id="{6D9DD508-60AB-98E2-775B-3C14A731F6D4}"/>
              </a:ext>
            </a:extLst>
          </p:cNvPr>
          <p:cNvSpPr>
            <a:spLocks noGrp="1"/>
          </p:cNvSpPr>
          <p:nvPr>
            <p:ph idx="1"/>
          </p:nvPr>
        </p:nvSpPr>
        <p:spPr>
          <a:xfrm>
            <a:off x="1367591" y="681135"/>
            <a:ext cx="10515600" cy="6005007"/>
          </a:xfrm>
        </p:spPr>
        <p:txBody>
          <a:bodyPr>
            <a:normAutofit fontScale="92500" lnSpcReduction="20000"/>
          </a:bodyPr>
          <a:lstStyle/>
          <a:p>
            <a:pPr marL="0" indent="0">
              <a:buNone/>
            </a:pPr>
            <a:r>
              <a:rPr lang="en-IN" sz="3000" b="1" u="sng" dirty="0">
                <a:latin typeface="Times New Roman" panose="02020603050405020304" pitchFamily="18" charset="0"/>
                <a:cs typeface="Times New Roman" panose="02020603050405020304" pitchFamily="18" charset="0"/>
              </a:rPr>
              <a:t>Visualization</a:t>
            </a:r>
            <a:r>
              <a:rPr lang="en-IN" sz="3000" u="sng" dirty="0"/>
              <a:t> </a:t>
            </a:r>
          </a:p>
          <a:p>
            <a:pPr marL="0" indent="0">
              <a:buNone/>
            </a:pPr>
            <a:r>
              <a:rPr lang="en-IN" sz="2600" dirty="0"/>
              <a:t>Count plot</a:t>
            </a:r>
          </a:p>
          <a:p>
            <a:pPr marL="0" indent="0">
              <a:buNone/>
            </a:pPr>
            <a:endParaRPr lang="en-IN" u="sng" dirty="0"/>
          </a:p>
          <a:p>
            <a:pPr marL="0" indent="0">
              <a:buNone/>
            </a:pPr>
            <a:endParaRPr lang="en-IN" u="sng" dirty="0"/>
          </a:p>
          <a:p>
            <a:pPr marL="0" indent="0">
              <a:buNone/>
            </a:pPr>
            <a:endParaRPr lang="en-IN" u="sng" dirty="0"/>
          </a:p>
          <a:p>
            <a:pPr marL="0" indent="0">
              <a:buNone/>
            </a:pPr>
            <a:endParaRPr lang="en-IN" u="sng" dirty="0"/>
          </a:p>
          <a:p>
            <a:pPr marL="0" indent="0">
              <a:buNone/>
            </a:pPr>
            <a:endParaRPr lang="en-IN" u="sng" dirty="0"/>
          </a:p>
          <a:p>
            <a:pPr marL="0" indent="0">
              <a:buNone/>
            </a:pPr>
            <a:endParaRPr lang="en-IN" u="sng" dirty="0"/>
          </a:p>
          <a:p>
            <a:pPr marL="0" indent="0">
              <a:buNone/>
            </a:pPr>
            <a:endParaRPr lang="en-IN" sz="1900" u="sng" dirty="0">
              <a:latin typeface="Times New Roman" panose="02020603050405020304" pitchFamily="18" charset="0"/>
              <a:cs typeface="Times New Roman" panose="02020603050405020304" pitchFamily="18" charset="0"/>
            </a:endParaRP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endParaRPr lang="en-US" sz="1900" dirty="0">
              <a:latin typeface="Times New Roman" panose="02020603050405020304" pitchFamily="18" charset="0"/>
              <a:cs typeface="Times New Roman" panose="02020603050405020304" pitchFamily="18" charset="0"/>
            </a:endParaRPr>
          </a:p>
          <a:p>
            <a:pPr marL="0" indent="0">
              <a:buNone/>
            </a:pPr>
            <a:r>
              <a:rPr lang="en-US" sz="1900" dirty="0">
                <a:latin typeface="Times New Roman" panose="02020603050405020304" pitchFamily="18" charset="0"/>
                <a:cs typeface="Times New Roman" panose="02020603050405020304" pitchFamily="18" charset="0"/>
              </a:rPr>
              <a:t>The </a:t>
            </a:r>
            <a:r>
              <a:rPr lang="en-US" sz="1900" dirty="0" err="1">
                <a:latin typeface="Times New Roman" panose="02020603050405020304" pitchFamily="18" charset="0"/>
                <a:cs typeface="Times New Roman" panose="02020603050405020304" pitchFamily="18" charset="0"/>
              </a:rPr>
              <a:t>countplot</a:t>
            </a:r>
            <a:r>
              <a:rPr lang="en-US" sz="1900" dirty="0">
                <a:latin typeface="Times New Roman" panose="02020603050405020304" pitchFamily="18" charset="0"/>
                <a:cs typeface="Times New Roman" panose="02020603050405020304" pitchFamily="18" charset="0"/>
              </a:rPr>
              <a:t> shows the distribution of the </a:t>
            </a:r>
            <a:r>
              <a:rPr lang="en-US" sz="1900" dirty="0" err="1">
                <a:latin typeface="Times New Roman" panose="02020603050405020304" pitchFamily="18" charset="0"/>
                <a:cs typeface="Times New Roman" panose="02020603050405020304" pitchFamily="18" charset="0"/>
              </a:rPr>
              <a:t>disease_risk</a:t>
            </a:r>
            <a:r>
              <a:rPr lang="en-US" sz="1900" dirty="0">
                <a:latin typeface="Times New Roman" panose="02020603050405020304" pitchFamily="18" charset="0"/>
                <a:cs typeface="Times New Roman" panose="02020603050405020304" pitchFamily="18" charset="0"/>
              </a:rPr>
              <a:t> variable.</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It indicates that the number of people with no disease risk </a:t>
            </a:r>
            <a:r>
              <a:rPr lang="en-US" sz="1900" b="1" dirty="0">
                <a:latin typeface="Times New Roman" panose="02020603050405020304" pitchFamily="18" charset="0"/>
                <a:cs typeface="Times New Roman" panose="02020603050405020304" pitchFamily="18" charset="0"/>
              </a:rPr>
              <a:t>(0)</a:t>
            </a:r>
            <a:r>
              <a:rPr lang="en-US" sz="1900" dirty="0">
                <a:latin typeface="Times New Roman" panose="02020603050405020304" pitchFamily="18" charset="0"/>
                <a:cs typeface="Times New Roman" panose="02020603050405020304" pitchFamily="18" charset="0"/>
              </a:rPr>
              <a:t> is significantly higher than those with disease risk </a:t>
            </a:r>
            <a:r>
              <a:rPr lang="en-US" sz="1900" b="1" dirty="0">
                <a:latin typeface="Times New Roman" panose="02020603050405020304" pitchFamily="18" charset="0"/>
                <a:cs typeface="Times New Roman" panose="02020603050405020304" pitchFamily="18" charset="0"/>
              </a:rPr>
              <a:t>(1)</a:t>
            </a:r>
            <a:r>
              <a:rPr lang="en-US" sz="1900" dirty="0">
                <a:latin typeface="Times New Roman" panose="02020603050405020304" pitchFamily="18" charset="0"/>
                <a:cs typeface="Times New Roman" panose="02020603050405020304" pitchFamily="18" charset="0"/>
              </a:rPr>
              <a:t>.</a:t>
            </a:r>
            <a:br>
              <a:rPr lang="en-US" sz="1900" dirty="0">
                <a:latin typeface="Times New Roman" panose="02020603050405020304" pitchFamily="18" charset="0"/>
                <a:cs typeface="Times New Roman" panose="02020603050405020304" pitchFamily="18" charset="0"/>
              </a:rPr>
            </a:br>
            <a:r>
              <a:rPr lang="en-US" sz="1900" dirty="0">
                <a:latin typeface="Times New Roman" panose="02020603050405020304" pitchFamily="18" charset="0"/>
                <a:cs typeface="Times New Roman" panose="02020603050405020304" pitchFamily="18" charset="0"/>
              </a:rPr>
              <a:t>This means the dataset is imbalanced, with more samples in the low-risk category compared to the high-risk category.</a:t>
            </a:r>
          </a:p>
        </p:txBody>
      </p:sp>
      <p:sp>
        <p:nvSpPr>
          <p:cNvPr id="6" name="AutoShape 2" descr="data:image/png;base64,iVBORw0KGgoAAAANSUhEUgAAAk0AAAGxCAYAAAB/QoKnAAAAOXRFWHRTb2Z0d2FyZQBNYXRwbG90bGliIHZlcnNpb24zLjkuMiwgaHR0cHM6Ly9tYXRwbG90bGliLm9yZy8hTgPZAAAACXBIWXMAAA9hAAAPYQGoP6dpAAAqjUlEQVR4nO3de3TU9Z3/8deQkJCEZIRAZhwNbDhGBJMiG9wQvCGXcDGm1C5QQ4NdEXBjoZFrWdYKriYFCmE1KwVWQbkY92jTy6rZpCIR5GokVihitbGAJARhmADGBMP394fl+3MI4ocYmAk+H+fMOZ3v9z0zn2/OiTz7nZlvHJZlWQIAAMAFtQv0AgAAANoCogkAAMAA0QQAAGCAaAIAADBANAEAABggmgAAAAwQTQAAAAaIJgAAAAOhgV7AleTMmTM6dOiQoqOj5XA4Ar0cAABgwLIsnThxQh6PR+3aff35JKKpFR06dEjx8fGBXgYAAGiBAwcO6Nprr/3a/URTK4qOjpb05Q89JiYmwKsBAAAm6urqFB8fb/87/nWIplZ09i25mJgYogkAgDbmmz5awwfBAQAADBBNAAAABogmAAAAA0QTAACAAaIJAADAANEEAABggGgCAAAwQDQBAAAYIJoAAAAMEE0AAAAGiCYAAAADRBMAAIABogkAAMAA0QQAAGCAaAIAADAQGugF4OKkzHw+0EsAglLFovGBXgKAK1xAzzS9+eabuvvuu+XxeORwOPTb3/7Wb79lWZo3b548Ho8iIiI0cOBA7dmzx2+moaFBU6ZMUZcuXRQVFaXMzEwdPHjQb8br9So7O1tOp1NOp1PZ2dk6fvy438z+/ft19913KyoqSl26dNHUqVPV2Nh4KQ4bAAC0QQGNplOnTqlPnz4qLCw87/6FCxdqyZIlKiws1M6dO+V2uzV06FCdOHHCnsnNzVVxcbGKioq0efNmnTx5UhkZGWpqarJnsrKyVFlZqZKSEpWUlKiyslLZ2dn2/qamJt111106deqUNm/erKKiIr388suaPn36pTt4AADQpjgsy7ICvQhJcjgcKi4u1qhRoyR9eZbJ4/EoNzdXs2fPlvTlWSWXy6UFCxZo8uTJ8vl86tq1q9asWaOxY8dKkg4dOqT4+Hi9+uqrGjZsmPbu3avevXtr27ZtSk1NlSRt27ZNaWlpev/999WzZ0+99tprysjI0IEDB+TxeCRJRUVF+slPfqLa2lrFxMQYHUNdXZ2cTqd8Pp/xYy4Wb88B58fbcwBayvTf76D9IHhVVZVqamqUnp5ubwsPD9cdd9yhLVu2SJIqKip0+vRpvxmPx6OkpCR7ZuvWrXI6nXYwSVL//v3ldDr9ZpKSkuxgkqRhw4apoaFBFRUVX7vGhoYG1dXV+d0AAMCVKWijqaamRpLkcrn8trtcLntfTU2NwsLC1KlTpwvOxMXFNXv+uLg4v5lzX6dTp04KCwuzZ84nPz/f/pyU0+lUfHz8RR4lAABoK4I2ms5yOBx+9y3LarbtXOfOnG++JTPnmjNnjnw+n307cODABdcFAADarqCNJrfbLUnNzvTU1tbaZ4XcbrcaGxvl9XovOHP48OFmz3/kyBG/mXNfx+v16vTp083OQH1VeHi4YmJi/G4AAODKFLTRlJCQILfbrbKyMntbY2OjysvLNWDAAElSSkqK2rdv7zdTXV2t3bt32zNpaWny+XzasWOHPbN9+3b5fD6/md27d6u6utqeKS0tVXh4uFJSUi7pcQIAgLYhoBe3PHnypD788EP7flVVlSorK9W5c2d169ZNubm5ysvLU2JiohITE5WXl6fIyEhlZWVJkpxOpyZMmKDp06crNjZWnTt31owZM5ScnKwhQ4ZIknr16qXhw4dr4sSJWr58uSRp0qRJysjIUM+ePSVJ6enp6t27t7Kzs7Vo0SIdO3ZMM2bM0MSJEzl7BAAAJAU4mt5++23deeed9v1p06ZJku677z6tXr1as2bNUn19vXJycuT1epWamqrS0lJFR0fbjykoKFBoaKjGjBmj+vp6DR48WKtXr1ZISIg9s27dOk2dOtX+ll1mZqbftaFCQkL0yiuvKCcnR7fccosiIiKUlZWlX/3qV5f6RwAAANqIoLlO05WA6zQBgcN1mgC0VJu/ThMAAEAwIZ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EdTR98cUX+vd//3clJCQoIiJCPXr00GOPPaYzZ87YM5Zlad68efJ4PIqIiNDAgQO1Z88ev+dpaGjQlClT1KVLF0VFRSkzM1MHDx70m/F6vcrOzpbT6ZTT6VR2draOHz9+OQ4TAAC0AUEdTQsWLNCvf/1rFRYWau/evVq4cKEWLVqkp556yp5ZuHChlixZosLCQu3cuVNut1tDhw7ViRMn7Jnc3FwVFxerqKhImzdv1smTJ5WRkaGmpiZ7JisrS5WVlSopKVFJSYkqKyuVnZ19WY8XAAAEL4dlWVagF/F1MjIy5HK59Mwzz9jbfvjDHyoyMlJr1qyRZVnyeDzKzc3V7NmzJX15VsnlcmnBggWaPHmyfD6funbtqjVr1mjs2LGSpEOHDik+Pl6vvvqqhg0bpr1796p3797atm2bUlNTJUnbtm1TWlqa3n//ffXs2dNovXV1dXI6nfL5fIqJiWnln8aXUmY+f0meF2jrKhaND/QSALRRpv9+B/WZpltvvVWvv/66PvjgA0nSu+++q82bN2vkyJGSpKqqKtXU1Cg9Pd1+THh4uO644w5t2bJFklRRUaHTp0/7zXg8HiUlJdkzW7duldPptINJkvr37y+n02nPAACA77bQQC/gQmbPni2fz6cbbrhBISEhampq0hNPPKF7771XklRTUyNJcrlcfo9zuVz629/+Zs+EhYWpU6dOzWbOPr6mpkZxcXHNXj8uLs6eOZ+GhgY1NDTY9+vq6lpwlAAAoC0I6jNNL774otauXav169frnXfe0XPPPadf/epXeu655/zmHA6H333LspptO9e5M+eb/6bnyc/Ptz847nQ6FR8fb3JYAACgDQrqaJo5c6Z+/vOf60c/+pGSk5OVnZ2thx9+WPn5+ZIkt9stSc3OBtXW1tpnn9xutxobG+X1ei84c/jw4Wavf+TIkWZnsb5qzpw58vl89u3AgQMtP1gAABDUgjqaPvvsM7Vr57/EkJAQ+5IDCQkJcrvdKisrs/c3NjaqvLxcAwYMkCSlpKSoffv2fjPV1dXavXu3PZOWliafz6cdO3bYM9u3b5fP57Nnzic8PFwxMTF+NwAAcGUK6s803X333XriiSfUrVs33Xjjjdq1a5eWLFmi+++/X9KXb6nl5uYqLy9PiYmJSkxMVF5eniIjI5WVlSVJcjqdmjBhgqZPn67Y2Fh17txZM2bMUHJysoYMGSJJ6tWrl4YPH66JEydq+fLlkqRJkyYpIyPD+JtzAADgyhbU0fTUU0/pkUceUU5Ojmpra+XxeDR58mT94he/sGdmzZql+vp65eTkyOv1KjU1VaWlpYqOjrZnCgoKFBoaqjFjxqi+vl6DBw/W6tWrFRISYs+sW7dOU6dOtb9ll5mZqcLCwst3sAAAIKgF9XWa2hqu0wQEDtdpAtBSV8R1mgAAAIIF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CDoo+mTTz7Rj3/8Y8XGxioyMlI33XSTKioq7P2WZWnevHnyeDyKiIjQwIEDtWfPHr/naGho0JQpU9SlSxdFRUUpMzNTBw8e9Jvxer3Kzs6W0+mU0+lUdna2jh8/fjkOEQAAtAFBHU1er1e33HKL2rdvr9dee01//vOftXjxYl111VX2zMKFC7VkyRIVFhZq586dcrvdGjp0qE6cOGHP5Obmqri4WEVFRdq8ebNOnjypjIwMNTU12TNZWVmqrKxUSUmJSkpKVFlZqezs7Mt5uAAAIIg5LMuyAr2Ir/Pzn/9cb731ljZt2nTe/ZZlyePxKDc3V7Nnz5b05Vkll8ulBQsWaPLkyfL5fOratavWrFmjsWPHSpIOHTqk+Ph4vfrqqxo2bJj27t2r3r17a9u2bUpNTZUkbdu2TWlpaXr//ffVs2dPo/XW1dXJ6XTK5/MpJiamFX4CzaXMfP6SPC/Q1lUsGh/oJQBoo0z//Q7qM02///3v1a9fP40ePVpxcXHq27evVq5cae+vqqpSTU2N0tPT7W3h4eG64447tGXLFklSRUWFTp8+7Tfj8XiUlJRkz2zdulVOp9MOJknq37+/nE6nPQMAAL7bgjqa/vrXv2rZsmVKTEzU//3f/+nBBx/U1KlT9fzzX55tqampkSS5XC6/x7lcLntfTU2NwsLC1KlTpwvOxMXFNXv9uLg4e+Z8GhoaVFdX53cDAABXptBAL+BCzpw5o379+ikvL0+S1LdvX+3Zs0fLli3T+PH//1S8w+Hwe5xlWc22nevcmfPNf9Pz5Ofna/78+UbHAgAA2ragPtN09dVXq3fv3n7bevXqpf3790uS3G63JDU7G1RbW2uffXK73WpsbJTX673gzOHDh5u9/pEjR5qdxfqqOXPmyOfz2bcDBw5c5BECAIC2Iqij6ZZbbtG+ffv8tn3wwQfq3r27JCkhIUFut1tlZWX2/sbGRpWXl2vAgAGSpJSUFLVv395vprq6Wrt377Zn0tLS5PP5tGPHDntm+/bt8vl89sz5hIeHKyYmxu8GAACuTEH99tzDDz+sAQMGKC8vT2PGjNGOHTu0YsUKrVixQtKXb6nl5uYqLy9PiYmJSkxMVF5eniIjI5WVlSVJcjqdmjBhgqZPn67Y2Fh17txZM2bMUHJysoYMGSLpy7NXw4cP18SJE7V8+XJJ0qRJk5SRkWH8zTkAAHBlC+pouvnmm1VcXKw5c+boscceU0JCgpYuXapx48bZM7NmzVJ9fb1ycnLk9XqVmpqq0tJSRUdH2zMFBQUKDQ3VmDFjVF9fr8GDB2v16tUKCQmxZ9atW6epU6fa37LLzMxUYWHh5TtYAAAQ1Fp0naZBgwbpN7/5jd9FJqUvr3MwatQobdiwobXW16ZwnSYgcLhOE4CWuqTXadq4caMaGxubbf/888+/9kKUAAAAbdlFvT33pz/9yf7ff/7zn/2+tdbU1KSSkhJdc801rbc6AACAIHFR0XTTTTfJ4XDI4XBo0KBBzfZHREToqaeearXFAQAABIuLiqaqqipZlqUePXpox44d6tq1q70vLCxMcXFxfh+uBgAAuFJcVDSdvT7SmTNnLsliAAAAglWLLznwwQcfaOPGjaqtrW0WUb/4xS++9cIAAACCSYuiaeXKlfrXf/1XdenSRW63u9nfcCOaAADAlaZF0fT444/riSee0OzZs1t7PQAAAEGpRddp8nq9Gj16dGuvBQAAIGi1KJpGjx6t0tLS1l4LAABA0GrR23PXXXedHnnkEW3btk3Jyclq37693/6pU6e2yuIAAACCRYuiacWKFerYsaPKy8tVXl7ut8/hcBBNAADgitOiaKqqqmrtdQAAAAS1Fn2mCQAA4LumRWea7r///gvuf/bZZ1u0GAAAgGDVomjyer1+90+fPq3du3fr+PHj5/1DvgAAAG1di6KpuLi42bYzZ84oJydHPXr0+NaLAgAACDat9pmmdu3a6eGHH1ZBQUFrPSUAAEDQaNUPgn/00Uf64osvWvMpAQAAgkKL3p6bNm2a333LslRdXa1XXnlF9913X6ssDAAAIJi0KJp27drld79du3bq2rWrFi9e/I3frAMAAGiLWhRNb7zxRmuvAwAAIKi1KJrOOnLkiPbt2yeHw6Hrr79eXbt2ba11AQAABJUWfRD81KlTuv/++3X11Vfr9ttv12233SaPx6MJEybos88+a+01AgAABFyLomnatGkqLy/XH/7wBx0/flzHjx/X7373O5WXl2v69OmtvUYAAICAa9Hbcy+//LJeeuklDRw40N42cuRIRUREaMyYMVq2bFlrrQ8AACAotOhM02effSaXy9Vse1xcHG/PAQCAK1KLoiktLU2PPvqoPv/8c3tbfX295s+fr7S0tFZbHAAAQLBo0dtzS5cu1YgRI3TttdeqT58+cjgcqqysVHh4uEpLS1t7jQAAAAHXomhKTk7WX/7yF61du1bvv/++LMvSj370I40bN04RERGtvUYAAICAa1E05efny+VyaeLEiX7bn332WR05ckSzZ89ulcUBAAAEixZ9pmn58uW64YYbmm2/8cYb9etf//pbLwoAACDYtCiaampqdPXVVzfb3rVrV1VXV3/rRQEAAASbFkVTfHy83nrrrWbb33rrLXk8nm+9KAAAgGDTos80PfDAA8rNzdXp06c1aNAgSdLrr7+uWbNmcUVwAABwRWpRNM2aNUvHjh1TTk6OGhsbJUkdOnTQ7NmzNWfOnFZdIAAAQDBoUTQ5HA4tWLBAjzzyiPbu3auIiAglJiYqPDy8tdcHAAAQFFoUTWd17NhRN998c2utBQAAIGi16IPgAAAA3zVEEwAAgAGiCQAAwADRBAAAYIBoAgAAMEA0AQAAGCCaAAAADBBNAAAABogmAAAAA0QTAACAAaIJAADAANEEAABggGgCAAAwQDQBAAAYIJoAAAAMEE0AAAAGiCYAAAADRBMAAIABogkAAMAA0QQAAGCAaAIAADDQpqIpPz9fDodDubm59jbLsjRv3jx5PB5FRERo4MCB2rNnj9/jGhoaNGXKFHXp0kVRUVHKzMzUwYMH/Wa8Xq+ys7PldDrldDqVnZ2t48ePX4ajAgAAbUGbiaadO3dqxYoV+t73vue3feHChVqyZIkKCwu1c+dOud1uDR06VCdOnLBncnNzVVxcrKKiIm3evFknT55URkaGmpqa7JmsrCxVVlaqpKREJSUlqqysVHZ29mU7PgAAENzaRDSdPHlS48aN08qVK9WpUyd7u2VZWrp0qebOnat77rlHSUlJeu655/TZZ59p/fr1kiSfz6dnnnlGixcv1pAhQ9S3b1+tXbtW7733nv74xz9Kkvbu3auSkhL993//t9LS0pSWlqaVK1fqf//3f7Vv376AHDMAAAgubSKaHnroId11110aMmSI3/aqqirV1NQoPT3d3hYeHq477rhDW7ZskSRVVFTo9OnTfjMej0dJSUn2zNatW+V0OpWammrP9O/fX06n0545n4aGBtXV1fndAADAlSk00Av4JkVFRXrnnXe0c+fOZvtqamokSS6Xy2+7y+XS3/72N3smLCzM7wzV2Zmzj6+pqVFcXFyz54+Li7Nnzic/P1/z58+/uAMCAABtUlCfaTpw4IB+9rOfae3aterQocPXzjkcDr/7lmU123auc2fON/9NzzNnzhz5fD77duDAgQu+JgAAaLuCOpoqKipUW1urlJQUhYaGKjQ0VOXl5XryyScVGhpqn2E692xQbW2tvc/tdquxsVFer/eCM4cPH272+keOHGl2FuurwsPDFRMT43cDAABXpqCOpsGDB+u9995TZWWlfevXr5/GjRunyspK9ejRQ263W2VlZfZjGhsbVV5ergEDBkiSUlJS1L59e7+Z6upq7d69255JS0uTz+fTjh077Jnt27fL5/PZMwAA4LstqD/TFB0draSkJL9tUVFRio2Ntbfn5uYqLy9PiYmJSkxMVF5eniIjI5WVlSVJcjqdmjBhgqZPn67Y2Fh17txZM2bMUHJysv3B8l69emn48OGaOHGili9fLkmaNGmSMjIy1LNnz8t4xAAAIFgFdTSZmDVrlurr65WTkyOv16vU1FSVlpYqOjranikoKFBoaKjGjBmj+vp6DR48WKtXr1ZISIg9s27dOk2dOtX+ll1mZqYKCwsv+/EAAIDg5LAsywr0Iq4UdXV1cjqd8vl8l+zzTSkzn78kzwu0dRWLxgd6CQDaKNN/v4P6M00AAADBgmgCAAAwQDQBAAAYIJoAAAAMEE0AAAAGiCYAAAADRBMAAIABogkAAMAA0QQAAGCAaAIAADBANAEAABggmgAAAAwQTQAAAAaIJgAAAANEEwAAgAGiCQAAwADRBAAAYCA00AsAAHwpZebzgV4CEJQqFo0P9BIkcaYJAADAC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IGgjqb8/HzdfPPNio6OVlxcnEaNGqV9+/b5zViWpXnz5snj8SgiIkIDBw7Unj17/GYaGho0ZcoUdenSRVFRUcrMzNTBgwf9Zrxer7Kzs+V0OuV0OpWdna3jx49f6kMEAABtRFBHU3l5uR566CFt27ZNZWVl+uKLL5Senq5Tp07ZMwsXLtSSJUtUWFionTt3yu12a+jQoTpx4oQ9k5ubq+LiYhUVFWnz5s06efKkMjIy1NTUZM9kZWWpsrJSJSUlKikpUWVlpbKzsy/r8QIAgOAVGugFXEhJSYnf/VWrVikuLk4VFRW6/fbbZVmWli5dqrlz5+qee+6RJD333HNyuVxav369Jk+eLJ/Pp2eeeUZr1qzRkCFDJElr165VfHy8/vjHP2rYsGHau3evSkpKtG3bNqWmpkqSVq5cqbS0NO3bt089e/a8vAcOAACCTlCfaTqXz+eTJHXu3FmSVFVVpZqaGqWnp9sz4eHhuuOOO7RlyxZJUkVFhU6fPu034/F4lJSUZM9s3bpVTqfTDiZJ6t+/v5xOpz1zPg0NDaqrq/O7AQCAK1ObiSbLsjRt2jTdeuutSkpKkiTV1NRIklwul9+sy+Wy99XU1CgsLEydOnW64ExcXFyz14yLi7Nnzic/P9/+DJTT6VR8fHzLDxAAAAS1NhNNP/3pT/WnP/1JL7zwQrN9DofD775lWc22nevcmfPNf9PzzJkzRz6fz74dOHDgmw4DAAC0UW0imqZMmaLf//73euONN3Tttdfa291utyQ1OxtUW1trn31yu91qbGyU1+u94Mzhw4ebve6RI0eancX6qvDwcMXExPjdAADAlSmoo8myLP30pz/Vb37zG23YsEEJCQl++xMSEuR2u1VWVmZva2xsVHl5uQYMGCBJSklJUfv27f1mqqurtXv3bnsmLS1NPp9PO3bssGe2b98un89nzwAAgO+2oP723EMPPaT169frd7/7naKjo+0zSk6nUxEREXI4HMrNzVVeXp4SExOVmJiovLw8RUZGKisry56dMGGCpk+frtjYWHXu3FkzZsxQcnKy/W26Xr16afjw4Zo4caKWL18uSZo0aZIyMjL45hwAAJAU5NG0bNkySdLAgQP9tq9atUo/+clPJEmzZs1SfX29cnJy5PV6lZqaqtLSUkVHR9vzBQUFCg0N1ZgxY1RfX6/Bgwdr9erVCgkJsWfWrVunqVOn2t+yy8zMVGFh4aU9QAAA0GY4LMuyAr2IK0VdXZ2cTqd8Pt8l+3xTysznL8nzAm1dxaLxgV7Ct8bvN3B+l/r32/Tf76D+TBMAAECw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ed4+umnlZCQoA4dOiglJUWbNm0K9JIAAEAQIJq+4sUXX1Rubq7mzp2rXbt26bbbbtOIESO0f//+QC8NAAAEGNH0FUuWLNGECRP0wAMPqFevXlq6dKni4+O1bNmyQC8NAAAEGNH0d42NjaqoqFB6errf9vT0dG3ZsiVAqwIAAMEiNNALCBaffvqpmpqa5HK5/La7XC7V1NSc9zENDQ1qaGiw7/t8PklSXV3dJVtnU0P9JXtuoC27lL93lwu/38D5Xerf77PPb1nWBeeIpnM4HA6/+5ZlNdt2Vn5+vubPn99se3x8/CVZG4Cv53zqwUAvAcAlcrl+v0+cOCGn0/m1+4mmv+vSpYtCQkKanVWqra1tdvbprDlz5mjatGn2/TNnzujYsWOKjY392tDClaOurk7x8fE6cOCAYmJiAr0cAK2I3+/vFsuydOLECXk8ngvOEU1/FxYWppSUFJWVlekHP/iBvb2srEzf//73z/uY8PBwhYeH+2276qqrLuUyEYRiYmL4jypwheL3+7vjQmeYziKavmLatGnKzs5Wv379lJaWphUrVmj//v168EFO+wMA8F1HNH3F2LFjdfToUT322GOqrq5WUlKSXn31VXXv3j3QSwMAAAFGNJ0jJydHOTk5gV4G2oDw8HA9+uijzd6iBdD28fuN83FY3/T9OgAAAHBxSwAAABNEEwAAgAGiCQAAwADRBLTA008/rYSEBHXo0EEpKSnatGlToJcEoBW8+eabuvvuu+XxeORwOPTb3/420EtCECGagIv04osvKjc3V3PnztWuXbt02223acSIEdq/f3+glwbgWzp16pT69OmjwsLCQC8FQYhvzwEXKTU1Vf/4j/+oZcuW2dt69eqlUaNGKT8/P4ArA9CaHA6HiouLNWrUqEAvBUGCM03ARWhsbFRFRYXS09P9tqenp2vLli0BWhUA4HIgmoCL8Omnn6qpqanZH3F2uVzN/tgzAODKQjQBLeBwOPzuW5bVbBsA4MpCNAEXoUuXLgoJCWl2Vqm2trbZ2ScAwJWFaAIuQlhYmFJSUlRWVua3vaysTAMGDAjQqgAAlwN/sBe4SNOmTVN2drb69euntLQ0rVixQvv379eDDz4Y6KUB+JZOnjypDz/80L5fVVWlyspKde7cWd26dQvgyhAMuOQA0AJPP/20Fi5cqOrqaiUlJamgoEC33357oJcF4FvauHGj7rzzzmbb77vvPq1evfryLwhBhWgCAAAwwGeaAAAADBBNAAAABogmAAAAA0QTAACAAaIJAADAANEEAABggGgCAAAwQDQBAAAYIJoABK2BAwcqNzdXkvQP//APWrp0aUDXcymtXr1aV111VavPAmg9/O05AG3Czp07FRUVFehlXDJjx47VyJEjA70MABdANAFoE7p27RroJVwyp0+fVkREhCIiIgK9FAAXwNtzAILCqVOnNH78eHXs2FFXX321Fi9e7Lf/3Lfn5s2bp27duik8PFwej0dTp0619zU2NmrWrFm65pprFBUVpdTUVG3cuNHef/ToUd1777269tprFRkZqeTkZL3wwgt+r/fSSy8pOTlZERERio2N1ZAhQ3Tq1Cl7/6pVq9SrVy916NBBN9xwg55++mmj4/z444/lcDj0P//zPxo4cKA6dOigtWvXNnvL7d1339Wdd96p6OhoxcTEKCUlRW+//fZ5n/Po0aP6p3/6J2VmZurzzz83WgeAi8eZJgBBYebMmXrjjTdUXFwst9utf/u3f1NFRYVuuummZrMvvfSSCgoKVFRUpBtvvFE1NTV699137f3/8i//oo8//lhFRUXyeDwqLi7W8OHD9d577ykxMVGff/65UlJSNHv2bMXExOiVV15Rdna2evToodTUVFVXV+vee+/VwoUL9YMf/EAnTpzQpk2bdPbvm69cuVKPPvqoCgsL1bdvX+3atUsTJ05UVFSU7rvvPqPjnT17thYvXqxVq1YpPDxcpaWlfvvHjRunvn37atmyZQoJCVFlZaXat2/f7HkOHjyo9PR09evXT88++6xCQ/nPOnDJWAAQYCdOnLDCwsKsoqIie9vRo0etiIgI62c/+5llWZbVvXt3q6CgwLIsy1q8eLF1/fXXW42Njc2e68MPP7QcDof1ySef+G0fPHiwNWfOnK9dw8iRI63p06dblmVZFRUVliTr448/Pu9sfHy8tX79er9t//Ef/2GlpaV947FWVVVZkqylS5f6bV+1apXldDrt+9HR0dbq1avP+xxnZ/ft22d169bNmjJlinXmzJlvfG0A3w5vzwEIuI8++kiNjY1KS0uzt3Xu3Fk9e/Y87/zo0aNVX1+vHj16aOLEiSouLtYXX3whSXrnnXdkWZauv/56dezY0b6Vl5fro48+kiQ1NTXpiSee0Pe+9z3FxsaqY8eOKi0t1f79+yVJffr00eDBg5WcnKzRo0dr5cqV8nq9kqQjR47owIEDmjBhgt/zP/744/bzm+jXr98F90+bNk0PPPCAhgwZol/+8pfNnru+vl633nqrRo0apSeffFIOh8P4tQG0DNEEIOCsv7/tZSo+Pl779u3Tf/3XfykiIkI5OTm6/fbbdfr0aZ05c0YhISGqqKhQZWWlfdu7d6/+8z//U5K0ePFiFRQUaNasWdqwYYMqKys1bNgwNTY2SpJCQkJUVlam1157Tb1799ZTTz2lnj17qqqqSmfOnJH05Vt0X33+3bt3a9u2bcbH8E3fBJw3b5727Nmju+66Sxs2bFDv3r1VXFxs7w8PD9eQIUP0yiuv6ODBgxf18wPQMkQTgIC77rrr1L59e7/o8Hq9+uCDD772MREREcrMzNSTTz6pjRs3auvWrXrvvffUt29fNTU1qba2Vtddd53fze12S5I2bdqk73//+/rxj3+sPn36qEePHvrLX/7i9/wOh0O33HKL5s+fr127diksLEzFxcVyuVy65ppr9Ne//rXZ8yckJLTqz+X666/Xww8/rNLSUt1zzz1atWqVva9du3Zas2aNUlJSNGjQIB06dKhVXxtAc3xiEEDAdezYURMmTNDMmTMVGxsrl8uluXPnql278///utWrV6upqUmpqamKjIzUmjVrFBERoe7duys2Nlbjxo3T+PHjtXjxYvXt21effvqpNmzYoOTkZI0cOVLXXXedXn75ZW3ZskWdOnXSkiVLVFNTo169ekmStm/frtdff13p6emKi4vT9u3bdeTIEXv/vHnzNHXqVMXExGjEiBFqaGjQ22+/La/Xq2nTpn3rn0d9fb1mzpypf/7nf1ZCQoIOHjyonTt36oc//KHfXEhIiNatW6d7771XgwYN0saNG+0wBND6iCYAQWHRokU6efKkMjMzFR0drenTp8vn85139qqrrtIvf/lLTZs2TU1NTUpOTtYf/vAHxcbGSvrycgCPP/64pk+frk8++USxsbFKS0uzLx75yCOPqKqqSsOGDVNkZKQmTZqkUaNG2a8XExOjN998U0uXLlVdXZ26d++uxYsXa8SIEZKkBx54QJGRkVq0aJFmzZqlqKgoJScn21cv/7ZCQkJ09OhRjR8/XocPH1aXLl10zz33aP78+c1mQ0ND9cILL2js2LF2OMXFxbXKOgD4c1gX+2ECAACA7yA+0wQAAGCAaAKAVpSXl+d3KYKv3s6+vQegbeLtOQBoRceOHdOxY8fOuy8iIkLXXHPNZV4RgNZCNAEAABjg7TkAAAADRBMAAIABogkAAMAA0QQAAGCAaAIAADBANAEAABggmgAAAAwQTQAAAAb+HzTn/kgcqwdQAAAAAElFTkSuQmC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data:image/png;base64,iVBORw0KGgoAAAANSUhEUgAAAk0AAAGxCAYAAAB/QoKnAAAAOXRFWHRTb2Z0d2FyZQBNYXRwbG90bGliIHZlcnNpb24zLjkuMiwgaHR0cHM6Ly9tYXRwbG90bGliLm9yZy8hTgPZAAAACXBIWXMAAA9hAAAPYQGoP6dpAAAqjUlEQVR4nO3de3TU9Z3/8deQkJCEZIRAZhwNbDhGBJMiG9wQvCGXcDGm1C5QQ4NdEXBjoZFrWdYKriYFCmE1KwVWQbkY92jTy6rZpCIR5GokVihitbGAJARhmADGBMP394fl+3MI4ocYmAk+H+fMOZ3v9z0zn2/OiTz7nZlvHJZlWQIAAMAFtQv0AgAAANoCogkAAMAA0QQAAGCAaAIAADBANAEAABggmgAAAAwQTQAAAAaIJgAAAAOhgV7AleTMmTM6dOiQoqOj5XA4Ar0cAABgwLIsnThxQh6PR+3aff35JKKpFR06dEjx8fGBXgYAAGiBAwcO6Nprr/3a/URTK4qOjpb05Q89JiYmwKsBAAAm6urqFB8fb/87/nWIplZ09i25mJgYogkAgDbmmz5awwfBAQAADBBNAAAABogmAAAAA0QTAACAAaIJAADAANEEAABggGgCAAAwQDQBAAAYIJoAAAAMEE0AAAAGiCYAAAADRBMAAIABogkAAMAA0QQAAGCAaAIAADAQGugF4OKkzHw+0EsAglLFovGBXgKAK1xAzzS9+eabuvvuu+XxeORwOPTb3/7Wb79lWZo3b548Ho8iIiI0cOBA7dmzx2+moaFBU6ZMUZcuXRQVFaXMzEwdPHjQb8br9So7O1tOp1NOp1PZ2dk6fvy438z+/ft19913KyoqSl26dNHUqVPV2Nh4KQ4bAAC0QQGNplOnTqlPnz4qLCw87/6FCxdqyZIlKiws1M6dO+V2uzV06FCdOHHCnsnNzVVxcbGKioq0efNmnTx5UhkZGWpqarJnsrKyVFlZqZKSEpWUlKiyslLZ2dn2/qamJt111106deqUNm/erKKiIr388suaPn36pTt4AADQpjgsy7ICvQhJcjgcKi4u1qhRoyR9eZbJ4/EoNzdXs2fPlvTlWSWXy6UFCxZo8uTJ8vl86tq1q9asWaOxY8dKkg4dOqT4+Hi9+uqrGjZsmPbu3avevXtr27ZtSk1NlSRt27ZNaWlpev/999WzZ0+99tprysjI0IEDB+TxeCRJRUVF+slPfqLa2lrFxMQYHUNdXZ2cTqd8Pp/xYy4Wb88B58fbcwBayvTf76D9IHhVVZVqamqUnp5ubwsPD9cdd9yhLVu2SJIqKip0+vRpvxmPx6OkpCR7ZuvWrXI6nXYwSVL//v3ldDr9ZpKSkuxgkqRhw4apoaFBFRUVX7vGhoYG1dXV+d0AAMCVKWijqaamRpLkcrn8trtcLntfTU2NwsLC1KlTpwvOxMXFNXv+uLg4v5lzX6dTp04KCwuzZ84nPz/f/pyU0+lUfHz8RR4lAABoK4I2ms5yOBx+9y3LarbtXOfOnG++JTPnmjNnjnw+n307cODABdcFAADarqCNJrfbLUnNzvTU1tbaZ4XcbrcaGxvl9XovOHP48OFmz3/kyBG/mXNfx+v16vTp083OQH1VeHi4YmJi/G4AAODKFLTRlJCQILfbrbKyMntbY2OjysvLNWDAAElSSkqK2rdv7zdTXV2t3bt32zNpaWny+XzasWOHPbN9+3b5fD6/md27d6u6utqeKS0tVXh4uFJSUi7pcQIAgLYhoBe3PHnypD788EP7flVVlSorK9W5c2d169ZNubm5ysvLU2JiohITE5WXl6fIyEhlZWVJkpxOpyZMmKDp06crNjZWnTt31owZM5ScnKwhQ4ZIknr16qXhw4dr4sSJWr58uSRp0qRJysjIUM+ePSVJ6enp6t27t7Kzs7Vo0SIdO3ZMM2bM0MSJEzl7BAAAJAU4mt5++23deeed9v1p06ZJku677z6tXr1as2bNUn19vXJycuT1epWamqrS0lJFR0fbjykoKFBoaKjGjBmj+vp6DR48WKtXr1ZISIg9s27dOk2dOtX+ll1mZqbftaFCQkL0yiuvKCcnR7fccosiIiKUlZWlX/3qV5f6RwAAANqIoLlO05WA6zQBgcN1mgC0VJu/ThMAAEAwIZ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EdTR98cUX+vd//3clJCQoIiJCPXr00GOPPaYzZ87YM5Zlad68efJ4PIqIiNDAgQO1Z88ev+dpaGjQlClT1KVLF0VFRSkzM1MHDx70m/F6vcrOzpbT6ZTT6VR2draOHz9+OQ4TAAC0AUEdTQsWLNCvf/1rFRYWau/evVq4cKEWLVqkp556yp5ZuHChlixZosLCQu3cuVNut1tDhw7ViRMn7Jnc3FwVFxerqKhImzdv1smTJ5WRkaGmpiZ7JisrS5WVlSopKVFJSYkqKyuVnZ19WY8XAAAEL4dlWVagF/F1MjIy5HK59Mwzz9jbfvjDHyoyMlJr1qyRZVnyeDzKzc3V7NmzJX15VsnlcmnBggWaPHmyfD6funbtqjVr1mjs2LGSpEOHDik+Pl6vvvqqhg0bpr1796p3797atm2bUlNTJUnbtm1TWlqa3n//ffXs2dNovXV1dXI6nfL5fIqJiWnln8aXUmY+f0meF2jrKhaND/QSALRRpv9+B/WZpltvvVWvv/66PvjgA0nSu+++q82bN2vkyJGSpKqqKtXU1Cg9Pd1+THh4uO644w5t2bJFklRRUaHTp0/7zXg8HiUlJdkzW7duldPptINJkvr37y+n02nPAACA77bQQC/gQmbPni2fz6cbbrhBISEhampq0hNPPKF7771XklRTUyNJcrlcfo9zuVz629/+Zs+EhYWpU6dOzWbOPr6mpkZxcXHNXj8uLs6eOZ+GhgY1NDTY9+vq6lpwlAAAoC0I6jNNL774otauXav169frnXfe0XPPPadf/epXeu655/zmHA6H333LspptO9e5M+eb/6bnyc/Ptz847nQ6FR8fb3JYAACgDQrqaJo5c6Z+/vOf60c/+pGSk5OVnZ2thx9+WPn5+ZIkt9stSc3OBtXW1tpnn9xutxobG+X1ei84c/jw4Wavf+TIkWZnsb5qzpw58vl89u3AgQMtP1gAABDUgjqaPvvsM7Vr57/EkJAQ+5IDCQkJcrvdKisrs/c3NjaqvLxcAwYMkCSlpKSoffv2fjPV1dXavXu3PZOWliafz6cdO3bYM9u3b5fP57Nnzic8PFwxMTF+NwAAcGUK6s803X333XriiSfUrVs33Xjjjdq1a5eWLFmi+++/X9KXb6nl5uYqLy9PiYmJSkxMVF5eniIjI5WVlSVJcjqdmjBhgqZPn67Y2Fh17txZM2bMUHJysoYMGSJJ6tWrl4YPH66JEydq+fLlkqRJkyYpIyPD+JtzAADgyhbU0fTUU0/pkUceUU5Ojmpra+XxeDR58mT94he/sGdmzZql+vp65eTkyOv1KjU1VaWlpYqOjrZnCgoKFBoaqjFjxqi+vl6DBw/W6tWrFRISYs+sW7dOU6dOtb9ll5mZqcLCwst3sAAAIKgF9XWa2hqu0wQEDtdpAtBSV8R1mgAAAIIF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CDoo+mTTz7Rj3/8Y8XGxioyMlI33XSTKioq7P2WZWnevHnyeDyKiIjQwIEDtWfPHr/naGho0JQpU9SlSxdFRUUpMzNTBw8e9Jvxer3Kzs6W0+mU0+lUdna2jh8/fjkOEQAAtAFBHU1er1e33HKL2rdvr9dee01//vOftXjxYl111VX2zMKFC7VkyRIVFhZq586dcrvdGjp0qE6cOGHP5Obmqri4WEVFRdq8ebNOnjypjIwMNTU12TNZWVmqrKxUSUmJSkpKVFlZqezs7Mt5uAAAIIg5LMuyAr2Ir/Pzn/9cb731ljZt2nTe/ZZlyePxKDc3V7Nnz5b05Vkll8ulBQsWaPLkyfL5fOratavWrFmjsWPHSpIOHTqk+Ph4vfrqqxo2bJj27t2r3r17a9u2bUpNTZUkbdu2TWlpaXr//ffVs2dPo/XW1dXJ6XTK5/MpJiamFX4CzaXMfP6SPC/Q1lUsGh/oJQBoo0z//Q7qM02///3v1a9fP40ePVpxcXHq27evVq5cae+vqqpSTU2N0tPT7W3h4eG64447tGXLFklSRUWFTp8+7Tfj8XiUlJRkz2zdulVOp9MOJknq37+/nE6nPQMAAL7bgjqa/vrXv2rZsmVKTEzU//3f/+nBBx/U1KlT9fzzX55tqampkSS5XC6/x7lcLntfTU2NwsLC1KlTpwvOxMXFNXv9uLg4e+Z8GhoaVFdX53cDAABXptBAL+BCzpw5o379+ikvL0+S1LdvX+3Zs0fLli3T+PH//1S8w+Hwe5xlWc22nevcmfPNf9Pz5Ofna/78+UbHAgAA2ragPtN09dVXq3fv3n7bevXqpf3790uS3G63JDU7G1RbW2uffXK73WpsbJTX673gzOHDh5u9/pEjR5qdxfqqOXPmyOfz2bcDBw5c5BECAIC2Iqij6ZZbbtG+ffv8tn3wwQfq3r27JCkhIUFut1tlZWX2/sbGRpWXl2vAgAGSpJSUFLVv395vprq6Wrt377Zn0tLS5PP5tGPHDntm+/bt8vl89sz5hIeHKyYmxu8GAACuTEH99tzDDz+sAQMGKC8vT2PGjNGOHTu0YsUKrVixQtKXb6nl5uYqLy9PiYmJSkxMVF5eniIjI5WVlSVJcjqdmjBhgqZPn67Y2Fh17txZM2bMUHJysoYMGSLpy7NXw4cP18SJE7V8+XJJ0qRJk5SRkWH8zTkAAHBlC+pouvnmm1VcXKw5c+boscceU0JCgpYuXapx48bZM7NmzVJ9fb1ycnLk9XqVmpqq0tJSRUdH2zMFBQUKDQ3VmDFjVF9fr8GDB2v16tUKCQmxZ9atW6epU6fa37LLzMxUYWHh5TtYAAAQ1Fp0naZBgwbpN7/5jd9FJqUvr3MwatQobdiwobXW16ZwnSYgcLhOE4CWuqTXadq4caMaGxubbf/888+/9kKUAAAAbdlFvT33pz/9yf7ff/7zn/2+tdbU1KSSkhJdc801rbc6AACAIHFR0XTTTTfJ4XDI4XBo0KBBzfZHREToqaeearXFAQAABIuLiqaqqipZlqUePXpox44d6tq1q70vLCxMcXFxfh+uBgAAuFJcVDSdvT7SmTNnLsliAAAAglWLLznwwQcfaOPGjaqtrW0WUb/4xS++9cIAAACCSYuiaeXKlfrXf/1XdenSRW63u9nfcCOaAADAlaZF0fT444/riSee0OzZs1t7PQAAAEGpRddp8nq9Gj16dGuvBQAAIGi1KJpGjx6t0tLS1l4LAABA0GrR23PXXXedHnnkEW3btk3Jyclq37693/6pU6e2yuIAAACCRYuiacWKFerYsaPKy8tVXl7ut8/hcBBNAADgitOiaKqqqmrtdQAAAAS1Fn2mCQAA4LumRWea7r///gvuf/bZZ1u0GAAAgGDVomjyer1+90+fPq3du3fr+PHj5/1DvgAAAG1di6KpuLi42bYzZ84oJydHPXr0+NaLAgAACDat9pmmdu3a6eGHH1ZBQUFrPSUAAEDQaNUPgn/00Uf64osvWvMpAQAAgkKL3p6bNm2a333LslRdXa1XXnlF9913X6ssDAAAIJi0KJp27drld79du3bq2rWrFi9e/I3frAMAAGiLWhRNb7zxRmuvAwAAIKi1KJrOOnLkiPbt2yeHw6Hrr79eXbt2ba11AQAABJUWfRD81KlTuv/++3X11Vfr9ttv12233SaPx6MJEybos88+a+01AgAABFyLomnatGkqLy/XH/7wBx0/flzHjx/X7373O5WXl2v69OmtvUYAAICAa9Hbcy+//LJeeuklDRw40N42cuRIRUREaMyYMVq2bFlrrQ8AACAotOhM02effSaXy9Vse1xcHG/PAQCAK1KLoiktLU2PPvqoPv/8c3tbfX295s+fr7S0tFZbHAAAQLBo0dtzS5cu1YgRI3TttdeqT58+cjgcqqysVHh4uEpLS1t7jQAAAAHXomhKTk7WX/7yF61du1bvv/++LMvSj370I40bN04RERGtvUYAAICAa1E05efny+VyaeLEiX7bn332WR05ckSzZ89ulcUBAAAEixZ9pmn58uW64YYbmm2/8cYb9etf//pbLwoAACDYtCiaampqdPXVVzfb3rVrV1VXV3/rRQEAAASbFkVTfHy83nrrrWbb33rrLXk8nm+9KAAAgGDTos80PfDAA8rNzdXp06c1aNAgSdLrr7+uWbNmcUVwAABwRWpRNM2aNUvHjh1TTk6OGhsbJUkdOnTQ7NmzNWfOnFZdIAAAQDBoUTQ5HA4tWLBAjzzyiPbu3auIiAglJiYqPDy8tdcHAAAQFFoUTWd17NhRN998c2utBQAAIGi16IPgAAAA3zVEEwAAgAGiCQAAwADRBAAAYIBoAgAAMEA0AQAAGCCaAAAADBBNAAAABogmAAAAA0QTAACAAaIJAADAANEEAABggGgCAAAwQDQBAAAYIJoAAAAMEE0AAAAGiCYAAAADRBMAAIABogkAAMAA0QQAAGCAaAIAADDQpqIpPz9fDodDubm59jbLsjRv3jx5PB5FRERo4MCB2rNnj9/jGhoaNGXKFHXp0kVRUVHKzMzUwYMH/Wa8Xq+ys7PldDrldDqVnZ2t48ePX4ajAgAAbUGbiaadO3dqxYoV+t73vue3feHChVqyZIkKCwu1c+dOud1uDR06VCdOnLBncnNzVVxcrKKiIm3evFknT55URkaGmpqa7JmsrCxVVlaqpKREJSUlqqysVHZ29mU7PgAAENzaRDSdPHlS48aN08qVK9WpUyd7u2VZWrp0qebOnat77rlHSUlJeu655/TZZ59p/fr1kiSfz6dnnnlGixcv1pAhQ9S3b1+tXbtW7733nv74xz9Kkvbu3auSkhL993//t9LS0pSWlqaVK1fqf//3f7Vv376AHDMAAAgubSKaHnroId11110aMmSI3/aqqirV1NQoPT3d3hYeHq477rhDW7ZskSRVVFTo9OnTfjMej0dJSUn2zNatW+V0OpWammrP9O/fX06n0545n4aGBtXV1fndAADAlSk00Av4JkVFRXrnnXe0c+fOZvtqamokSS6Xy2+7y+XS3/72N3smLCzM7wzV2Zmzj6+pqVFcXFyz54+Li7Nnzic/P1/z58+/uAMCAABtUlCfaTpw4IB+9rOfae3aterQocPXzjkcDr/7lmU123auc2fON/9NzzNnzhz5fD77duDAgQu+JgAAaLuCOpoqKipUW1urlJQUhYaGKjQ0VOXl5XryyScVGhpqn2E692xQbW2tvc/tdquxsVFer/eCM4cPH272+keOHGl2FuurwsPDFRMT43cDAABXpqCOpsGDB+u9995TZWWlfevXr5/GjRunyspK9ejRQ263W2VlZfZjGhsbVV5ergEDBkiSUlJS1L59e7+Z6upq7d69255JS0uTz+fTjh077Jnt27fL5/PZMwAA4LstqD/TFB0draSkJL9tUVFRio2Ntbfn5uYqLy9PiYmJSkxMVF5eniIjI5WVlSVJcjqdmjBhgqZPn67Y2Fh17txZM2bMUHJysv3B8l69emn48OGaOHGili9fLkmaNGmSMjIy1LNnz8t4xAAAIFgFdTSZmDVrlurr65WTkyOv16vU1FSVlpYqOjranikoKFBoaKjGjBmj+vp6DR48WKtXr1ZISIg9s27dOk2dOtX+ll1mZqYKCwsv+/EAAIDg5LAsywr0Iq4UdXV1cjqd8vl8l+zzTSkzn78kzwu0dRWLxgd6CQDaKNN/v4P6M00AAADBgmgCAAAwQDQBAAAYIJoAAAAMEE0AAAAGiCYAAAADRBMAAIABogkAAMAA0QQAAGCAaAIAADBANAEAABggmgAAAAwQTQAAAAaIJgAAAANEEwAAgAGiCQAAwADRBAAAYCA00AsAAHwpZebzgV4CEJQqFo0P9BIkcaYJAADAC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IGgjqb8/HzdfPPNio6OVlxcnEaNGqV9+/b5zViWpXnz5snj8SgiIkIDBw7Unj17/GYaGho0ZcoUdenSRVFRUcrMzNTBgwf9Zrxer7Kzs+V0OuV0OpWdna3jx49f6kMEAABtRFBHU3l5uR566CFt27ZNZWVl+uKLL5Senq5Tp07ZMwsXLtSSJUtUWFionTt3yu12a+jQoTpx4oQ9k5ubq+LiYhUVFWnz5s06efKkMjIy1NTUZM9kZWWpsrJSJSUlKikpUWVlpbKzsy/r8QIAgOAVGugFXEhJSYnf/VWrVikuLk4VFRW6/fbbZVmWli5dqrlz5+qee+6RJD333HNyuVxav369Jk+eLJ/Pp2eeeUZr1qzRkCFDJElr165VfHy8/vjHP2rYsGHau3evSkpKtG3bNqWmpkqSVq5cqbS0NO3bt089e/a8vAcOAACCTlCfaTqXz+eTJHXu3FmSVFVVpZqaGqWnp9sz4eHhuuOOO7RlyxZJUkVFhU6fPu034/F4lJSUZM9s3bpVTqfTDiZJ6t+/v5xOpz1zPg0NDaqrq/O7AQCAK1ObiSbLsjRt2jTdeuutSkpKkiTV1NRIklwul9+sy+Wy99XU1CgsLEydOnW64ExcXFyz14yLi7Nnzic/P9/+DJTT6VR8fHzLDxAAAAS1NhNNP/3pT/WnP/1JL7zwQrN9DofD775lWc22nevcmfPNf9PzzJkzRz6fz74dOHDgmw4DAAC0UW0imqZMmaLf//73euONN3Tttdfa291utyQ1OxtUW1trn31yu91qbGyU1+u94Mzhw4ebve6RI0eancX6qvDwcMXExPjdAADAlSmoo8myLP30pz/Vb37zG23YsEEJCQl++xMSEuR2u1VWVmZva2xsVHl5uQYMGCBJSklJUfv27f1mqqurtXv3bnsmLS1NPp9PO3bssGe2b98un89nzwAAgO+2oP723EMPPaT169frd7/7naKjo+0zSk6nUxEREXI4HMrNzVVeXp4SExOVmJiovLw8RUZGKisry56dMGGCpk+frtjYWHXu3FkzZsxQcnKy/W26Xr16afjw4Zo4caKWL18uSZo0aZIyMjL45hwAAJAU5NG0bNkySdLAgQP9tq9atUo/+clPJEmzZs1SfX29cnJy5PV6lZqaqtLSUkVHR9vzBQUFCg0N1ZgxY1RfX6/Bgwdr9erVCgkJsWfWrVunqVOn2t+yy8zMVGFh4aU9QAAA0GY4LMuyAr2IK0VdXZ2cTqd8Pt8l+3xTysznL8nzAm1dxaLxgV7Ct8bvN3B+l/r32/Tf76D+TBMAAECwIJoAAAAMEE0AAAAGiCYAAAADRBMAAIABogkAAMAA0QQAAGCAaAIAADBANAEAABggmgAAAAwQTQAAAAaIJgAAAANEEwAAgAGiCQAAwADRBAAAYIBoAgAAMEA0AQAAGCCaAAAADBBNAAAABogmAAAAA0QTAACAAaIJAADAANEEAABggGgCAAAwQDQBAAAYIJoAAAAMEE0AAAAGiCYAAAADRBMAAIABogkAAMAA0QQAAGCAaAIAADBANAEAABggmgAAAAwQTQAAAAaIJgAAAANEEwAAgAGiCQAAwADRBAAAYIBoAgAAMEA0AQAAGCCaAAAADBBNAAAABogmAAAAA0QTAACAAaIJAADAANEEAABggGgCAAAwQDQBAAAYIJoAAAAMEE0AAAAGiCYAAAADRBMAAIABogkAAMAA0QQAAGCAaAIAADBANAEAABggmgAAAAwQTed4+umnlZCQoA4dOiglJUWbNm0K9JIAAEAQIJq+4sUXX1Rubq7mzp2rXbt26bbbbtOIESO0f//+QC8NAAAEGNH0FUuWLNGECRP0wAMPqFevXlq6dKni4+O1bNmyQC8NAAAEGNH0d42NjaqoqFB6errf9vT0dG3ZsiVAqwIAAMEiNNALCBaffvqpmpqa5HK5/La7XC7V1NSc9zENDQ1qaGiw7/t8PklSXV3dJVtnU0P9JXtuoC27lL93lwu/38D5Xerf77PPb1nWBeeIpnM4HA6/+5ZlNdt2Vn5+vubPn99se3x8/CVZG4Cv53zqwUAvAcAlcrl+v0+cOCGn0/m1+4mmv+vSpYtCQkKanVWqra1tdvbprDlz5mjatGn2/TNnzujYsWOKjY392tDClaOurk7x8fE6cOCAYmJiAr0cAK2I3+/vFsuydOLECXk8ngvOEU1/FxYWppSUFJWVlekHP/iBvb2srEzf//73z/uY8PBwhYeH+2276qqrLuUyEYRiYmL4jypwheL3+7vjQmeYziKavmLatGnKzs5Wv379lJaWphUrVmj//v168EFO+wMA8F1HNH3F2LFjdfToUT322GOqrq5WUlKSXn31VXXv3j3QSwMAAAFGNJ0jJydHOTk5gV4G2oDw8HA9+uijzd6iBdD28fuN83FY3/T9OgAAAHBxSwAAABNEEwAAgAGiCQAAwADRBLTA008/rYSEBHXo0EEpKSnatGlToJcEoBW8+eabuvvuu+XxeORwOPTb3/420EtCECGagIv04osvKjc3V3PnztWuXbt02223acSIEdq/f3+glwbgWzp16pT69OmjwsLCQC8FQYhvzwEXKTU1Vf/4j/+oZcuW2dt69eqlUaNGKT8/P4ArA9CaHA6HiouLNWrUqEAvBUGCM03ARWhsbFRFRYXS09P9tqenp2vLli0BWhUA4HIgmoCL8Omnn6qpqanZH3F2uVzN/tgzAODKQjQBLeBwOPzuW5bVbBsA4MpCNAEXoUuXLgoJCWl2Vqm2trbZ2ScAwJWFaAIuQlhYmFJSUlRWVua3vaysTAMGDAjQqgAAlwN/sBe4SNOmTVN2drb69euntLQ0rVixQvv379eDDz4Y6KUB+JZOnjypDz/80L5fVVWlyspKde7cWd26dQvgyhAMuOQA0AJPP/20Fi5cqOrqaiUlJamgoEC33357oJcF4FvauHGj7rzzzmbb77vvPq1evfryLwhBhWgCAAAwwGeaAAAADBBNAAAABogmAAAAA0QTAACAAaIJAADAANEEAABggGgCAAAwQDQBAAAYIJoABK2BAwcqNzdXkvQP//APWrp0aUDXcymtXr1aV111VavPAmg9/O05AG3Czp07FRUVFehlXDJjx47VyJEjA70MABdANAFoE7p27RroJVwyp0+fVkREhCIiIgK9FAAXwNtzAILCqVOnNH78eHXs2FFXX321Fi9e7Lf/3Lfn5s2bp27duik8PFwej0dTp0619zU2NmrWrFm65pprFBUVpdTUVG3cuNHef/ToUd1777269tprFRkZqeTkZL3wwgt+r/fSSy8pOTlZERERio2N1ZAhQ3Tq1Cl7/6pVq9SrVy916NBBN9xwg55++mmj4/z444/lcDj0P//zPxo4cKA6dOigtWvXNnvL7d1339Wdd96p6OhoxcTEKCUlRW+//fZ5n/Po0aP6p3/6J2VmZurzzz83WgeAi8eZJgBBYebMmXrjjTdUXFwst9utf/u3f1NFRYVuuummZrMvvfSSCgoKVFRUpBtvvFE1NTV699137f3/8i//oo8//lhFRUXyeDwqLi7W8OHD9d577ykxMVGff/65UlJSNHv2bMXExOiVV15Rdna2evToodTUVFVXV+vee+/VwoUL9YMf/EAnTpzQpk2bdPbvm69cuVKPPvqoCgsL1bdvX+3atUsTJ05UVFSU7rvvPqPjnT17thYvXqxVq1YpPDxcpaWlfvvHjRunvn37atmyZQoJCVFlZaXat2/f7HkOHjyo9PR09evXT88++6xCQ/nPOnDJWAAQYCdOnLDCwsKsoqIie9vRo0etiIgI62c/+5llWZbVvXt3q6CgwLIsy1q8eLF1/fXXW42Njc2e68MPP7QcDof1ySef+G0fPHiwNWfOnK9dw8iRI63p06dblmVZFRUVliTr448/Pu9sfHy8tX79er9t//Ef/2GlpaV947FWVVVZkqylS5f6bV+1apXldDrt+9HR0dbq1avP+xxnZ/ft22d169bNmjJlinXmzJlvfG0A3w5vzwEIuI8++kiNjY1KS0uzt3Xu3Fk9e/Y87/zo0aNVX1+vHj16aOLEiSouLtYXX3whSXrnnXdkWZauv/56dezY0b6Vl5fro48+kiQ1NTXpiSee0Pe+9z3FxsaqY8eOKi0t1f79+yVJffr00eDBg5WcnKzRo0dr5cqV8nq9kqQjR47owIEDmjBhgt/zP/744/bzm+jXr98F90+bNk0PPPCAhgwZol/+8pfNnru+vl633nqrRo0apSeffFIOh8P4tQG0DNEEIOCsv7/tZSo+Pl779u3Tf/3XfykiIkI5OTm6/fbbdfr0aZ05c0YhISGqqKhQZWWlfdu7d6/+8z//U5K0ePFiFRQUaNasWdqwYYMqKys1bNgwNTY2SpJCQkJUVlam1157Tb1799ZTTz2lnj17qqqqSmfOnJH05Vt0X33+3bt3a9u2bcbH8E3fBJw3b5727Nmju+66Sxs2bFDv3r1VXFxs7w8PD9eQIUP0yiuv6ODBgxf18wPQMkQTgIC77rrr1L59e7/o8Hq9+uCDD772MREREcrMzNSTTz6pjRs3auvWrXrvvffUt29fNTU1qba2Vtddd53fze12S5I2bdqk73//+/rxj3+sPn36qEePHvrLX/7i9/wOh0O33HKL5s+fr127diksLEzFxcVyuVy65ppr9Ne//rXZ8yckJLTqz+X666/Xww8/rNLSUt1zzz1atWqVva9du3Zas2aNUlJSNGjQIB06dKhVXxtAc3xiEEDAdezYURMmTNDMmTMVGxsrl8uluXPnql278///utWrV6upqUmpqamKjIzUmjVrFBERoe7duys2Nlbjxo3T+PHjtXjxYvXt21effvqpNmzYoOTkZI0cOVLXXXedXn75ZW3ZskWdOnXSkiVLVFNTo169ekmStm/frtdff13p6emKi4vT9u3bdeTIEXv/vHnzNHXqVMXExGjEiBFqaGjQ22+/La/Xq2nTpn3rn0d9fb1mzpypf/7nf1ZCQoIOHjyonTt36oc//KHfXEhIiNatW6d7771XgwYN0saNG+0wBND6iCYAQWHRokU6efKkMjMzFR0drenTp8vn85139qqrrtIvf/lLTZs2TU1NTUpOTtYf/vAHxcbGSvrycgCPP/64pk+frk8++USxsbFKS0uzLx75yCOPqKqqSsOGDVNkZKQmTZqkUaNG2a8XExOjN998U0uXLlVdXZ26d++uxYsXa8SIEZKkBx54QJGRkVq0aJFmzZqlqKgoJScn21cv/7ZCQkJ09OhRjR8/XocPH1aXLl10zz33aP78+c1mQ0ND9cILL2js2LF2OMXFxbXKOgD4c1gX+2ECAACA7yA+0wQAAGCAaAKAVpSXl+d3KYKv3s6+vQegbeLtOQBoRceOHdOxY8fOuy8iIkLXXHPNZV4RgNZCNAEAABjg7TkAAAADRBMAAIABogkAAMAA0QQAAGCAaAIAADBANAEAABggmgAAAAwQTQAAAAb+HzTn/kgcqwdQAAAAAElFTkSuQmCC"/>
          <p:cNvSpPr>
            <a:spLocks noChangeAspect="1" noChangeArrowheads="1"/>
          </p:cNvSpPr>
          <p:nvPr/>
        </p:nvSpPr>
        <p:spPr bwMode="auto">
          <a:xfrm>
            <a:off x="307975" y="793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3401" y="1194319"/>
            <a:ext cx="6668936" cy="3685592"/>
          </a:xfrm>
          <a:prstGeom prst="rect">
            <a:avLst/>
          </a:prstGeom>
        </p:spPr>
      </p:pic>
    </p:spTree>
    <p:extLst>
      <p:ext uri="{BB962C8B-B14F-4D97-AF65-F5344CB8AC3E}">
        <p14:creationId xmlns:p14="http://schemas.microsoft.com/office/powerpoint/2010/main" val="269558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a:t>The </a:t>
            </a:r>
            <a:r>
              <a:rPr lang="en-US" sz="800" dirty="0" err="1"/>
              <a:t>pairplot</a:t>
            </a:r>
            <a:r>
              <a:rPr lang="en-US" sz="800" dirty="0"/>
              <a:t> shows feature distributions and how health &amp; lifestyle variables relate to each other, helping identify patterns and weak or strong relationships.</a:t>
            </a:r>
          </a:p>
        </p:txBody>
      </p:sp>
      <p:sp>
        <p:nvSpPr>
          <p:cNvPr id="3" name="Content Placeholder 2"/>
          <p:cNvSpPr>
            <a:spLocks noGrp="1"/>
          </p:cNvSpPr>
          <p:nvPr>
            <p:ph idx="1"/>
          </p:nvPr>
        </p:nvSpPr>
        <p:spPr>
          <a:xfrm>
            <a:off x="1615565" y="-65316"/>
            <a:ext cx="9997440" cy="6923316"/>
          </a:xfrm>
        </p:spPr>
        <p:txBody>
          <a:bodyPr>
            <a:normAutofit/>
          </a:bodyPr>
          <a:lstStyle/>
          <a:p>
            <a:pPr marL="82296" indent="0">
              <a:buNone/>
            </a:pPr>
            <a:r>
              <a:rPr lang="en-US" dirty="0"/>
              <a:t>Pair plot  </a:t>
            </a:r>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sz="2400" dirty="0">
              <a:latin typeface="Times New Roman" panose="02020603050405020304" pitchFamily="18" charset="0"/>
              <a:cs typeface="Times New Roman" panose="02020603050405020304" pitchFamily="18" charset="0"/>
            </a:endParaRPr>
          </a:p>
          <a:p>
            <a:pPr marL="82296" indent="0">
              <a:buNone/>
            </a:pPr>
            <a:endParaRPr lang="en-US" sz="2400" dirty="0">
              <a:latin typeface="Times New Roman" panose="02020603050405020304" pitchFamily="18" charset="0"/>
              <a:cs typeface="Times New Roman" panose="02020603050405020304" pitchFamily="18" charset="0"/>
            </a:endParaRPr>
          </a:p>
          <a:p>
            <a:pPr marL="82296" indent="0">
              <a:buNone/>
            </a:pPr>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pairplot</a:t>
            </a:r>
            <a:r>
              <a:rPr lang="en-US" sz="2400" dirty="0">
                <a:latin typeface="Times New Roman" panose="02020603050405020304" pitchFamily="18" charset="0"/>
                <a:cs typeface="Times New Roman" panose="02020603050405020304" pitchFamily="18" charset="0"/>
              </a:rPr>
              <a:t> shows feature distributions and how health &amp; lifestyle variables relate to each other, helping identify patterns and weak or strong relationships</a:t>
            </a:r>
            <a:r>
              <a:rPr lang="en-US" dirty="0">
                <a:latin typeface="Times New Roman" panose="02020603050405020304" pitchFamily="18" charset="0"/>
                <a:cs typeface="Times New Roman" panose="02020603050405020304" pitchFamily="18" charset="0"/>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2270" y="569169"/>
            <a:ext cx="10394302" cy="5365133"/>
          </a:xfrm>
          <a:prstGeom prst="rect">
            <a:avLst/>
          </a:prstGeom>
        </p:spPr>
      </p:pic>
    </p:spTree>
    <p:extLst>
      <p:ext uri="{BB962C8B-B14F-4D97-AF65-F5344CB8AC3E}">
        <p14:creationId xmlns:p14="http://schemas.microsoft.com/office/powerpoint/2010/main" val="4007857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638"/>
            <a:ext cx="9997440" cy="351004"/>
          </a:xfrm>
        </p:spPr>
        <p:txBody>
          <a:bodyPr>
            <a:normAutofit/>
          </a:bodyPr>
          <a:lstStyle/>
          <a:p>
            <a:r>
              <a:rPr lang="en-US" sz="900" dirty="0"/>
              <a:t>.</a:t>
            </a:r>
          </a:p>
        </p:txBody>
      </p:sp>
      <p:sp>
        <p:nvSpPr>
          <p:cNvPr id="3" name="Content Placeholder 2"/>
          <p:cNvSpPr>
            <a:spLocks noGrp="1"/>
          </p:cNvSpPr>
          <p:nvPr>
            <p:ph idx="1"/>
          </p:nvPr>
        </p:nvSpPr>
        <p:spPr>
          <a:xfrm>
            <a:off x="1692763" y="202132"/>
            <a:ext cx="9997440" cy="6478587"/>
          </a:xfrm>
        </p:spPr>
        <p:txBody>
          <a:bodyPr>
            <a:normAutofit fontScale="92500" lnSpcReduction="10000"/>
          </a:bodyPr>
          <a:lstStyle/>
          <a:p>
            <a:pPr marL="82296" indent="0">
              <a:buNone/>
            </a:pPr>
            <a:r>
              <a:rPr lang="en-US" dirty="0"/>
              <a:t>Heat Map</a:t>
            </a:r>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p>
          <a:p>
            <a:pPr marL="82296" indent="0">
              <a:buNone/>
            </a:pPr>
            <a:endParaRPr lang="en-US" dirty="0">
              <a:latin typeface="Times New Roman" panose="02020603050405020304" pitchFamily="18" charset="0"/>
              <a:cs typeface="Times New Roman" panose="02020603050405020304" pitchFamily="18" charset="0"/>
            </a:endParaRPr>
          </a:p>
          <a:p>
            <a:pPr marL="82296" indent="0">
              <a:buNone/>
            </a:pPr>
            <a:endParaRPr lang="en-US" sz="2200" dirty="0">
              <a:latin typeface="Times New Roman" panose="02020603050405020304" pitchFamily="18" charset="0"/>
              <a:cs typeface="Times New Roman" panose="02020603050405020304" pitchFamily="18" charset="0"/>
            </a:endParaRPr>
          </a:p>
          <a:p>
            <a:pPr marL="82296" indent="0">
              <a:buNone/>
            </a:pPr>
            <a:r>
              <a:rPr lang="en-US" sz="2200" dirty="0">
                <a:latin typeface="Times New Roman" panose="02020603050405020304" pitchFamily="18" charset="0"/>
                <a:cs typeface="Times New Roman" panose="02020603050405020304" pitchFamily="18" charset="0"/>
              </a:rPr>
              <a:t>Most features are weakly correlated, indicating diverse data. Cholesterol and blood pressure slightly influence disease risk.</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4115" y="634484"/>
            <a:ext cx="9218645" cy="5085183"/>
          </a:xfrm>
          <a:prstGeom prst="rect">
            <a:avLst/>
          </a:prstGeom>
        </p:spPr>
      </p:pic>
    </p:spTree>
    <p:extLst>
      <p:ext uri="{BB962C8B-B14F-4D97-AF65-F5344CB8AC3E}">
        <p14:creationId xmlns:p14="http://schemas.microsoft.com/office/powerpoint/2010/main" val="29589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9553" y="274638"/>
            <a:ext cx="9673881" cy="6583362"/>
          </a:xfrm>
        </p:spPr>
        <p:txBody>
          <a:bodyPr>
            <a:normAutofit/>
          </a:bodyPr>
          <a:lstStyle/>
          <a:p>
            <a:r>
              <a:rPr lang="en-US" sz="800" dirty="0"/>
              <a:t>.</a:t>
            </a:r>
          </a:p>
        </p:txBody>
      </p:sp>
      <p:sp>
        <p:nvSpPr>
          <p:cNvPr id="3" name="Content Placeholder 2"/>
          <p:cNvSpPr>
            <a:spLocks noGrp="1"/>
          </p:cNvSpPr>
          <p:nvPr>
            <p:ph idx="1"/>
          </p:nvPr>
        </p:nvSpPr>
        <p:spPr>
          <a:xfrm>
            <a:off x="1586885" y="312020"/>
            <a:ext cx="9997440" cy="6545981"/>
          </a:xfrm>
        </p:spPr>
        <p:txBody>
          <a:bodyPr>
            <a:normAutofit/>
          </a:bodyPr>
          <a:lstStyle/>
          <a:p>
            <a:pPr marL="82296" indent="0">
              <a:buNone/>
            </a:pPr>
            <a:r>
              <a:rPr lang="en-US" dirty="0" err="1"/>
              <a:t>Hist</a:t>
            </a:r>
            <a:r>
              <a:rPr lang="en-US" dirty="0"/>
              <a:t> plot</a:t>
            </a: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endParaRPr lang="en-US" sz="1800" dirty="0">
              <a:latin typeface="Times New Roman" panose="02020603050405020304" pitchFamily="18" charset="0"/>
              <a:cs typeface="Times New Roman" panose="02020603050405020304" pitchFamily="18" charset="0"/>
            </a:endParaRPr>
          </a:p>
          <a:p>
            <a:pPr marL="82296" indent="0">
              <a:buNone/>
            </a:pPr>
            <a:r>
              <a:rPr lang="en-US" sz="1800" dirty="0" err="1">
                <a:latin typeface="Times New Roman" panose="02020603050405020304" pitchFamily="18" charset="0"/>
                <a:cs typeface="Times New Roman" panose="02020603050405020304" pitchFamily="18" charset="0"/>
              </a:rPr>
              <a:t>Hist</a:t>
            </a:r>
            <a:r>
              <a:rPr lang="en-US" sz="1800" dirty="0">
                <a:latin typeface="Times New Roman" panose="02020603050405020304" pitchFamily="18" charset="0"/>
                <a:cs typeface="Times New Roman" panose="02020603050405020304" pitchFamily="18" charset="0"/>
              </a:rPr>
              <a:t> plots show how each variable in the dataset is spread across different </a:t>
            </a:r>
            <a:r>
              <a:rPr lang="en-US" sz="1800" dirty="0" err="1">
                <a:latin typeface="Times New Roman" panose="02020603050405020304" pitchFamily="18" charset="0"/>
                <a:cs typeface="Times New Roman" panose="02020603050405020304" pitchFamily="18" charset="0"/>
              </a:rPr>
              <a:t>values.Most</a:t>
            </a:r>
            <a:r>
              <a:rPr lang="en-US" sz="1800" dirty="0">
                <a:latin typeface="Times New Roman" panose="02020603050405020304" pitchFamily="18" charset="0"/>
                <a:cs typeface="Times New Roman" panose="02020603050405020304" pitchFamily="18" charset="0"/>
              </a:rPr>
              <a:t> continuous features such as age, BMI, blood pressure, cholesterol, and daily steps are fairly evenly distributed. Binary features like smoker, alcohol, and </a:t>
            </a:r>
            <a:r>
              <a:rPr lang="en-US" sz="1800" dirty="0" err="1">
                <a:latin typeface="Times New Roman" panose="02020603050405020304" pitchFamily="18" charset="0"/>
                <a:cs typeface="Times New Roman" panose="02020603050405020304" pitchFamily="18" charset="0"/>
              </a:rPr>
              <a:t>family_history</a:t>
            </a:r>
            <a:r>
              <a:rPr lang="en-US" sz="1800" dirty="0">
                <a:latin typeface="Times New Roman" panose="02020603050405020304" pitchFamily="18" charset="0"/>
                <a:cs typeface="Times New Roman" panose="02020603050405020304" pitchFamily="18" charset="0"/>
              </a:rPr>
              <a:t> show clear separation between 0 and 1 values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050" y="811764"/>
            <a:ext cx="8910735" cy="4655976"/>
          </a:xfrm>
          <a:prstGeom prst="rect">
            <a:avLst/>
          </a:prstGeom>
        </p:spPr>
      </p:pic>
    </p:spTree>
    <p:extLst>
      <p:ext uri="{BB962C8B-B14F-4D97-AF65-F5344CB8AC3E}">
        <p14:creationId xmlns:p14="http://schemas.microsoft.com/office/powerpoint/2010/main" val="93368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800" dirty="0"/>
              <a:t>.</a:t>
            </a:r>
          </a:p>
        </p:txBody>
      </p:sp>
      <p:sp>
        <p:nvSpPr>
          <p:cNvPr id="3" name="Content Placeholder 2"/>
          <p:cNvSpPr>
            <a:spLocks noGrp="1"/>
          </p:cNvSpPr>
          <p:nvPr>
            <p:ph idx="1"/>
          </p:nvPr>
        </p:nvSpPr>
        <p:spPr>
          <a:xfrm>
            <a:off x="1578249" y="298678"/>
            <a:ext cx="10342667" cy="6102122"/>
          </a:xfrm>
        </p:spPr>
        <p:txBody>
          <a:bodyPr>
            <a:normAutofit/>
          </a:bodyPr>
          <a:lstStyle/>
          <a:p>
            <a:pPr marL="82296" indent="0">
              <a:buNone/>
            </a:pPr>
            <a:r>
              <a:rPr lang="en-US" dirty="0">
                <a:latin typeface="+mj-lt"/>
                <a:cs typeface="Times New Roman" panose="02020603050405020304" pitchFamily="18" charset="0"/>
              </a:rPr>
              <a:t>Box Plot </a:t>
            </a:r>
          </a:p>
          <a:p>
            <a:pPr marL="82296" indent="0">
              <a:buNone/>
            </a:pPr>
            <a:r>
              <a:rPr lang="en-US" sz="1600" dirty="0"/>
              <a:t>    </a:t>
            </a:r>
            <a:r>
              <a:rPr lang="en-US" sz="1600" dirty="0">
                <a:latin typeface="Arial" panose="020B0604020202020204" pitchFamily="34" charset="0"/>
                <a:cs typeface="Arial" panose="020B0604020202020204" pitchFamily="34" charset="0"/>
              </a:rPr>
              <a:t>Before outlier removal                                                             </a:t>
            </a:r>
            <a:r>
              <a:rPr lang="en-US" sz="1600" dirty="0"/>
              <a:t> </a:t>
            </a:r>
            <a:r>
              <a:rPr lang="en-US" sz="1600" dirty="0">
                <a:latin typeface="Arial" panose="020B0604020202020204" pitchFamily="34" charset="0"/>
                <a:cs typeface="Arial" panose="020B0604020202020204" pitchFamily="34" charset="0"/>
              </a:rPr>
              <a:t>After outlier removal    </a:t>
            </a:r>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endParaRPr lang="en-US" sz="1600" dirty="0"/>
          </a:p>
          <a:p>
            <a:pPr marL="82296" indent="0">
              <a:buNone/>
            </a:pPr>
            <a:r>
              <a:rPr lang="en-US" sz="2000" dirty="0">
                <a:latin typeface="Times New Roman" panose="02020603050405020304" pitchFamily="18" charset="0"/>
                <a:cs typeface="Times New Roman" panose="02020603050405020304" pitchFamily="18" charset="0"/>
              </a:rPr>
              <a:t>The box plots display the distribution and outliers of all numerical features.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Before preprocessing, some variables like </a:t>
            </a:r>
            <a:r>
              <a:rPr lang="en-US" sz="2000" b="1" dirty="0">
                <a:latin typeface="Times New Roman" panose="02020603050405020304" pitchFamily="18" charset="0"/>
                <a:cs typeface="Times New Roman" panose="02020603050405020304" pitchFamily="18" charset="0"/>
              </a:rPr>
              <a:t>daily steps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calories consumed</a:t>
            </a:r>
            <a:r>
              <a:rPr lang="en-US" sz="2000" dirty="0">
                <a:latin typeface="Times New Roman" panose="02020603050405020304" pitchFamily="18" charset="0"/>
                <a:cs typeface="Times New Roman" panose="02020603050405020304" pitchFamily="18" charset="0"/>
              </a:rPr>
              <a:t> showed extreme outliers . After cleaning, the data became more consistent, indicating that outlier removal helped improve data quality and model performance.</a:t>
            </a:r>
            <a:r>
              <a:rPr lang="en-US" sz="2000" dirty="0"/>
              <a:t> </a:t>
            </a:r>
            <a:r>
              <a:rPr lang="en-US" sz="2000" dirty="0">
                <a:latin typeface="Times New Roman" panose="02020603050405020304" pitchFamily="18" charset="0"/>
                <a:cs typeface="Times New Roman" panose="02020603050405020304" pitchFamily="18" charset="0"/>
              </a:rPr>
              <a:t>Before preprocessing, some variables like </a:t>
            </a:r>
            <a:r>
              <a:rPr lang="en-US" sz="2000" b="1" dirty="0" err="1">
                <a:latin typeface="Times New Roman" panose="02020603050405020304" pitchFamily="18" charset="0"/>
                <a:cs typeface="Times New Roman" panose="02020603050405020304" pitchFamily="18" charset="0"/>
              </a:rPr>
              <a:t>daily_steps</a:t>
            </a:r>
            <a:r>
              <a:rPr lang="en-US" sz="2000" dirty="0">
                <a:latin typeface="Times New Roman" panose="02020603050405020304" pitchFamily="18" charset="0"/>
                <a:cs typeface="Times New Roman" panose="02020603050405020304" pitchFamily="18" charset="0"/>
              </a:rPr>
              <a:t> and </a:t>
            </a:r>
            <a:r>
              <a:rPr lang="en-US" sz="2000" b="1" dirty="0" err="1">
                <a:latin typeface="Times New Roman" panose="02020603050405020304" pitchFamily="18" charset="0"/>
                <a:cs typeface="Times New Roman" panose="02020603050405020304" pitchFamily="18" charset="0"/>
              </a:rPr>
              <a:t>calories_consumed</a:t>
            </a:r>
            <a:r>
              <a:rPr lang="en-US" sz="2000" dirty="0">
                <a:latin typeface="Times New Roman" panose="02020603050405020304" pitchFamily="18" charset="0"/>
                <a:cs typeface="Times New Roman" panose="02020603050405020304" pitchFamily="18" charset="0"/>
              </a:rPr>
              <a:t> showed extreme outliers.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5162" y="1337913"/>
            <a:ext cx="4141879" cy="310896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9197" y="1328291"/>
            <a:ext cx="4154699" cy="3118582"/>
          </a:xfrm>
          <a:prstGeom prst="rect">
            <a:avLst/>
          </a:prstGeom>
        </p:spPr>
      </p:pic>
    </p:spTree>
    <p:extLst>
      <p:ext uri="{BB962C8B-B14F-4D97-AF65-F5344CB8AC3E}">
        <p14:creationId xmlns:p14="http://schemas.microsoft.com/office/powerpoint/2010/main" val="142437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259" y="-182562"/>
            <a:ext cx="9997440" cy="1143000"/>
          </a:xfrm>
        </p:spPr>
        <p:txBody>
          <a:bodyPr>
            <a:normAutofit/>
          </a:bodyPr>
          <a:lstStyle/>
          <a:p>
            <a:r>
              <a:rPr lang="en-US" sz="4000" dirty="0">
                <a:latin typeface="Times New Roman" panose="02020603050405020304" pitchFamily="18" charset="0"/>
                <a:cs typeface="Times New Roman" panose="02020603050405020304" pitchFamily="18" charset="0"/>
              </a:rPr>
              <a:t>Summary Statistics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52015893"/>
              </p:ext>
            </p:extLst>
          </p:nvPr>
        </p:nvGraphicFramePr>
        <p:xfrm>
          <a:off x="1446243" y="737117"/>
          <a:ext cx="10664892" cy="6011886"/>
        </p:xfrm>
        <a:graphic>
          <a:graphicData uri="http://schemas.openxmlformats.org/drawingml/2006/table">
            <a:tbl>
              <a:tblPr>
                <a:tableStyleId>{35758FB7-9AC5-4552-8A53-C91805E547FA}</a:tableStyleId>
              </a:tblPr>
              <a:tblGrid>
                <a:gridCol w="1184988">
                  <a:extLst>
                    <a:ext uri="{9D8B030D-6E8A-4147-A177-3AD203B41FA5}">
                      <a16:colId xmlns:a16="http://schemas.microsoft.com/office/drawing/2014/main" val="20000"/>
                    </a:ext>
                  </a:extLst>
                </a:gridCol>
                <a:gridCol w="1184988">
                  <a:extLst>
                    <a:ext uri="{9D8B030D-6E8A-4147-A177-3AD203B41FA5}">
                      <a16:colId xmlns:a16="http://schemas.microsoft.com/office/drawing/2014/main" val="20001"/>
                    </a:ext>
                  </a:extLst>
                </a:gridCol>
                <a:gridCol w="1184988">
                  <a:extLst>
                    <a:ext uri="{9D8B030D-6E8A-4147-A177-3AD203B41FA5}">
                      <a16:colId xmlns:a16="http://schemas.microsoft.com/office/drawing/2014/main" val="20002"/>
                    </a:ext>
                  </a:extLst>
                </a:gridCol>
                <a:gridCol w="1184988">
                  <a:extLst>
                    <a:ext uri="{9D8B030D-6E8A-4147-A177-3AD203B41FA5}">
                      <a16:colId xmlns:a16="http://schemas.microsoft.com/office/drawing/2014/main" val="20003"/>
                    </a:ext>
                  </a:extLst>
                </a:gridCol>
                <a:gridCol w="1184988">
                  <a:extLst>
                    <a:ext uri="{9D8B030D-6E8A-4147-A177-3AD203B41FA5}">
                      <a16:colId xmlns:a16="http://schemas.microsoft.com/office/drawing/2014/main" val="20004"/>
                    </a:ext>
                  </a:extLst>
                </a:gridCol>
                <a:gridCol w="1184988">
                  <a:extLst>
                    <a:ext uri="{9D8B030D-6E8A-4147-A177-3AD203B41FA5}">
                      <a16:colId xmlns:a16="http://schemas.microsoft.com/office/drawing/2014/main" val="20005"/>
                    </a:ext>
                  </a:extLst>
                </a:gridCol>
                <a:gridCol w="1184988">
                  <a:extLst>
                    <a:ext uri="{9D8B030D-6E8A-4147-A177-3AD203B41FA5}">
                      <a16:colId xmlns:a16="http://schemas.microsoft.com/office/drawing/2014/main" val="20006"/>
                    </a:ext>
                  </a:extLst>
                </a:gridCol>
                <a:gridCol w="1184988">
                  <a:extLst>
                    <a:ext uri="{9D8B030D-6E8A-4147-A177-3AD203B41FA5}">
                      <a16:colId xmlns:a16="http://schemas.microsoft.com/office/drawing/2014/main" val="20007"/>
                    </a:ext>
                  </a:extLst>
                </a:gridCol>
                <a:gridCol w="1184988">
                  <a:extLst>
                    <a:ext uri="{9D8B030D-6E8A-4147-A177-3AD203B41FA5}">
                      <a16:colId xmlns:a16="http://schemas.microsoft.com/office/drawing/2014/main" val="20008"/>
                    </a:ext>
                  </a:extLst>
                </a:gridCol>
              </a:tblGrid>
              <a:tr h="659400">
                <a:tc>
                  <a:txBody>
                    <a:bodyPr/>
                    <a:lstStyle/>
                    <a:p>
                      <a:pPr algn="r" fontAlgn="ct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count</a:t>
                      </a:r>
                    </a:p>
                    <a:p>
                      <a:pPr algn="ctr" fontAlgn="ct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mean</a:t>
                      </a:r>
                    </a:p>
                    <a:p>
                      <a:pPr algn="ctr" fontAlgn="ctr"/>
                      <a:endParaRPr lang="en-US" sz="1400" b="1" dirty="0">
                        <a:effectLst/>
                      </a:endParaRPr>
                    </a:p>
                  </a:txBody>
                  <a:tcPr marL="47065" marR="47065" marT="23532" marB="23532" anchor="ctr"/>
                </a:tc>
                <a:tc>
                  <a:txBody>
                    <a:bodyPr/>
                    <a:lstStyle/>
                    <a:p>
                      <a:pPr algn="ctr" fontAlgn="ctr"/>
                      <a:r>
                        <a:rPr lang="en-US" sz="1400" dirty="0" err="1">
                          <a:effectLst/>
                        </a:rPr>
                        <a:t>Std</a:t>
                      </a: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min</a:t>
                      </a:r>
                    </a:p>
                    <a:p>
                      <a:pPr algn="ctr" fontAlgn="ct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25%</a:t>
                      </a:r>
                    </a:p>
                    <a:p>
                      <a:pPr algn="ctr" fontAlgn="ct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50%</a:t>
                      </a:r>
                    </a:p>
                    <a:p>
                      <a:pPr algn="ctr" fontAlgn="ctr"/>
                      <a:endParaRPr lang="en-US" sz="1400" b="1" dirty="0">
                        <a:effectLst/>
                      </a:endParaRPr>
                    </a:p>
                  </a:txBody>
                  <a:tcPr marL="47065" marR="47065" marT="23532" marB="23532" anchor="ct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sz="1400" dirty="0">
                        <a:effectLst/>
                      </a:endParaRPr>
                    </a:p>
                    <a:p>
                      <a:pPr marL="0" marR="0" indent="0" algn="ctr" defTabSz="914400" rtl="0" eaLnBrk="1" fontAlgn="ctr" latinLnBrk="0" hangingPunct="1">
                        <a:lnSpc>
                          <a:spcPct val="100000"/>
                        </a:lnSpc>
                        <a:spcBef>
                          <a:spcPts val="0"/>
                        </a:spcBef>
                        <a:spcAft>
                          <a:spcPts val="0"/>
                        </a:spcAft>
                        <a:buClrTx/>
                        <a:buSzTx/>
                        <a:buFontTx/>
                        <a:buNone/>
                        <a:tabLst/>
                        <a:defRPr/>
                      </a:pPr>
                      <a:r>
                        <a:rPr lang="en-US" sz="1400" dirty="0">
                          <a:effectLst/>
                        </a:rPr>
                        <a:t>75%</a:t>
                      </a:r>
                    </a:p>
                    <a:p>
                      <a:pPr algn="ctr" fontAlgn="ctr"/>
                      <a:endParaRPr lang="en-US" sz="1400" b="1" dirty="0">
                        <a:effectLst/>
                      </a:endParaRPr>
                    </a:p>
                  </a:txBody>
                  <a:tcPr marL="47065" marR="47065" marT="23532" marB="23532" anchor="ctr"/>
                </a:tc>
                <a:tc>
                  <a:txBody>
                    <a:bodyPr/>
                    <a:lstStyle/>
                    <a:p>
                      <a:endParaRPr lang="en-US" sz="900" dirty="0">
                        <a:effectLst/>
                      </a:endParaRPr>
                    </a:p>
                    <a:p>
                      <a:r>
                        <a:rPr lang="en-US" sz="900" dirty="0">
                          <a:effectLst/>
                        </a:rPr>
                        <a:t>      </a:t>
                      </a:r>
                      <a:r>
                        <a:rPr lang="en-US" sz="900" baseline="0" dirty="0">
                          <a:effectLst/>
                        </a:rPr>
                        <a:t>  </a:t>
                      </a:r>
                      <a:r>
                        <a:rPr lang="en-US" sz="900" dirty="0">
                          <a:effectLst/>
                        </a:rPr>
                        <a:t> </a:t>
                      </a:r>
                      <a:r>
                        <a:rPr lang="en-US" sz="1400" dirty="0">
                          <a:effectLst/>
                        </a:rPr>
                        <a:t>max</a:t>
                      </a:r>
                      <a:endParaRPr lang="en-US" sz="1400" dirty="0"/>
                    </a:p>
                  </a:txBody>
                  <a:tcPr marL="47065" marR="47065" marT="23532" marB="23532"/>
                </a:tc>
                <a:extLst>
                  <a:ext uri="{0D108BD9-81ED-4DB2-BD59-A6C34878D82A}">
                    <a16:rowId xmlns:a16="http://schemas.microsoft.com/office/drawing/2014/main" val="10000"/>
                  </a:ext>
                </a:extLst>
              </a:tr>
              <a:tr h="391425">
                <a:tc>
                  <a:txBody>
                    <a:bodyPr/>
                    <a:lstStyle/>
                    <a:p>
                      <a:pPr algn="r" fontAlgn="ctr"/>
                      <a:r>
                        <a:rPr lang="en-US" sz="1200" dirty="0">
                          <a:effectLst/>
                        </a:rPr>
                        <a:t>Age</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48.628330</a:t>
                      </a:r>
                    </a:p>
                  </a:txBody>
                  <a:tcPr marL="47065" marR="47065" marT="23532" marB="23532" anchor="ctr"/>
                </a:tc>
                <a:tc>
                  <a:txBody>
                    <a:bodyPr/>
                    <a:lstStyle/>
                    <a:p>
                      <a:pPr algn="r" fontAlgn="ctr"/>
                      <a:r>
                        <a:rPr lang="en-US" sz="900">
                          <a:effectLst/>
                        </a:rPr>
                        <a:t>17.882750</a:t>
                      </a:r>
                    </a:p>
                  </a:txBody>
                  <a:tcPr marL="47065" marR="47065" marT="23532" marB="23532" anchor="ctr"/>
                </a:tc>
                <a:tc>
                  <a:txBody>
                    <a:bodyPr/>
                    <a:lstStyle/>
                    <a:p>
                      <a:pPr algn="r" fontAlgn="ctr"/>
                      <a:r>
                        <a:rPr lang="en-US" sz="900" dirty="0">
                          <a:effectLst/>
                        </a:rPr>
                        <a:t>18.0</a:t>
                      </a:r>
                    </a:p>
                  </a:txBody>
                  <a:tcPr marL="47065" marR="47065" marT="23532" marB="23532" anchor="ctr"/>
                </a:tc>
                <a:tc>
                  <a:txBody>
                    <a:bodyPr/>
                    <a:lstStyle/>
                    <a:p>
                      <a:pPr algn="r" fontAlgn="ctr"/>
                      <a:r>
                        <a:rPr lang="en-US" sz="900">
                          <a:effectLst/>
                        </a:rPr>
                        <a:t>33.0</a:t>
                      </a:r>
                    </a:p>
                  </a:txBody>
                  <a:tcPr marL="47065" marR="47065" marT="23532" marB="23532" anchor="ctr"/>
                </a:tc>
                <a:tc>
                  <a:txBody>
                    <a:bodyPr/>
                    <a:lstStyle/>
                    <a:p>
                      <a:pPr algn="r" fontAlgn="ctr"/>
                      <a:r>
                        <a:rPr lang="en-US" sz="900">
                          <a:effectLst/>
                        </a:rPr>
                        <a:t>49.0</a:t>
                      </a:r>
                    </a:p>
                  </a:txBody>
                  <a:tcPr marL="47065" marR="47065" marT="23532" marB="23532" anchor="ctr"/>
                </a:tc>
                <a:tc>
                  <a:txBody>
                    <a:bodyPr/>
                    <a:lstStyle/>
                    <a:p>
                      <a:pPr algn="r" fontAlgn="ctr"/>
                      <a:r>
                        <a:rPr lang="en-US" sz="900" dirty="0">
                          <a:effectLst/>
                        </a:rPr>
                        <a:t>64.0</a:t>
                      </a:r>
                    </a:p>
                  </a:txBody>
                  <a:tcPr marL="47065" marR="47065" marT="23532" marB="23532" anchor="ctr"/>
                </a:tc>
                <a:tc>
                  <a:txBody>
                    <a:bodyPr/>
                    <a:lstStyle/>
                    <a:p>
                      <a:pPr algn="r" fontAlgn="ctr"/>
                      <a:r>
                        <a:rPr lang="en-US" sz="900" dirty="0">
                          <a:effectLst/>
                        </a:rPr>
                        <a:t>79.0</a:t>
                      </a:r>
                    </a:p>
                  </a:txBody>
                  <a:tcPr marL="47065" marR="47065" marT="23532" marB="23532" anchor="ctr"/>
                </a:tc>
                <a:extLst>
                  <a:ext uri="{0D108BD9-81ED-4DB2-BD59-A6C34878D82A}">
                    <a16:rowId xmlns:a16="http://schemas.microsoft.com/office/drawing/2014/main" val="10001"/>
                  </a:ext>
                </a:extLst>
              </a:tr>
              <a:tr h="391425">
                <a:tc>
                  <a:txBody>
                    <a:bodyPr/>
                    <a:lstStyle/>
                    <a:p>
                      <a:pPr algn="r" fontAlgn="ctr"/>
                      <a:r>
                        <a:rPr lang="en-US" sz="1200" dirty="0">
                          <a:effectLst/>
                        </a:rPr>
                        <a:t>BMI</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29.010084</a:t>
                      </a:r>
                    </a:p>
                  </a:txBody>
                  <a:tcPr marL="47065" marR="47065" marT="23532" marB="23532" anchor="ctr"/>
                </a:tc>
                <a:tc>
                  <a:txBody>
                    <a:bodyPr/>
                    <a:lstStyle/>
                    <a:p>
                      <a:pPr algn="r" fontAlgn="ctr"/>
                      <a:r>
                        <a:rPr lang="en-US" sz="900">
                          <a:effectLst/>
                        </a:rPr>
                        <a:t>6.369118</a:t>
                      </a:r>
                    </a:p>
                  </a:txBody>
                  <a:tcPr marL="47065" marR="47065" marT="23532" marB="23532" anchor="ctr"/>
                </a:tc>
                <a:tc>
                  <a:txBody>
                    <a:bodyPr/>
                    <a:lstStyle/>
                    <a:p>
                      <a:pPr algn="r" fontAlgn="ctr"/>
                      <a:r>
                        <a:rPr lang="en-US" sz="900">
                          <a:effectLst/>
                        </a:rPr>
                        <a:t>18.0</a:t>
                      </a:r>
                    </a:p>
                  </a:txBody>
                  <a:tcPr marL="47065" marR="47065" marT="23532" marB="23532" anchor="ctr"/>
                </a:tc>
                <a:tc>
                  <a:txBody>
                    <a:bodyPr/>
                    <a:lstStyle/>
                    <a:p>
                      <a:pPr algn="r" fontAlgn="ctr"/>
                      <a:r>
                        <a:rPr lang="en-US" sz="900">
                          <a:effectLst/>
                        </a:rPr>
                        <a:t>23.5</a:t>
                      </a:r>
                    </a:p>
                  </a:txBody>
                  <a:tcPr marL="47065" marR="47065" marT="23532" marB="23532" anchor="ctr"/>
                </a:tc>
                <a:tc>
                  <a:txBody>
                    <a:bodyPr/>
                    <a:lstStyle/>
                    <a:p>
                      <a:pPr algn="r" fontAlgn="ctr"/>
                      <a:r>
                        <a:rPr lang="en-US" sz="900">
                          <a:effectLst/>
                        </a:rPr>
                        <a:t>29.0</a:t>
                      </a:r>
                    </a:p>
                  </a:txBody>
                  <a:tcPr marL="47065" marR="47065" marT="23532" marB="23532" anchor="ctr"/>
                </a:tc>
                <a:tc>
                  <a:txBody>
                    <a:bodyPr/>
                    <a:lstStyle/>
                    <a:p>
                      <a:pPr algn="r" fontAlgn="ctr"/>
                      <a:r>
                        <a:rPr lang="en-US" sz="900">
                          <a:effectLst/>
                        </a:rPr>
                        <a:t>34.6</a:t>
                      </a:r>
                    </a:p>
                  </a:txBody>
                  <a:tcPr marL="47065" marR="47065" marT="23532" marB="23532" anchor="ctr"/>
                </a:tc>
                <a:tc>
                  <a:txBody>
                    <a:bodyPr/>
                    <a:lstStyle/>
                    <a:p>
                      <a:pPr algn="r" fontAlgn="ctr"/>
                      <a:r>
                        <a:rPr lang="en-US" sz="900">
                          <a:effectLst/>
                        </a:rPr>
                        <a:t>40.0</a:t>
                      </a:r>
                    </a:p>
                  </a:txBody>
                  <a:tcPr marL="47065" marR="47065" marT="23532" marB="23532" anchor="ctr"/>
                </a:tc>
                <a:extLst>
                  <a:ext uri="{0D108BD9-81ED-4DB2-BD59-A6C34878D82A}">
                    <a16:rowId xmlns:a16="http://schemas.microsoft.com/office/drawing/2014/main" val="10002"/>
                  </a:ext>
                </a:extLst>
              </a:tr>
              <a:tr h="391425">
                <a:tc>
                  <a:txBody>
                    <a:bodyPr/>
                    <a:lstStyle/>
                    <a:p>
                      <a:pPr algn="r" fontAlgn="ctr"/>
                      <a:r>
                        <a:rPr lang="en-US" sz="1200" dirty="0">
                          <a:effectLst/>
                        </a:rPr>
                        <a:t>Daily</a:t>
                      </a:r>
                      <a:r>
                        <a:rPr lang="en-US" sz="1200" baseline="0" dirty="0">
                          <a:effectLst/>
                        </a:rPr>
                        <a:t> </a:t>
                      </a:r>
                      <a:r>
                        <a:rPr lang="en-US" sz="1200" dirty="0">
                          <a:effectLst/>
                        </a:rPr>
                        <a:t>steps</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10428.265638</a:t>
                      </a:r>
                    </a:p>
                  </a:txBody>
                  <a:tcPr marL="47065" marR="47065" marT="23532" marB="23532" anchor="ctr"/>
                </a:tc>
                <a:tc>
                  <a:txBody>
                    <a:bodyPr/>
                    <a:lstStyle/>
                    <a:p>
                      <a:pPr algn="r" fontAlgn="ctr"/>
                      <a:r>
                        <a:rPr lang="en-US" sz="900">
                          <a:effectLst/>
                        </a:rPr>
                        <a:t>5500.670615</a:t>
                      </a:r>
                    </a:p>
                  </a:txBody>
                  <a:tcPr marL="47065" marR="47065" marT="23532" marB="23532" anchor="ctr"/>
                </a:tc>
                <a:tc>
                  <a:txBody>
                    <a:bodyPr/>
                    <a:lstStyle/>
                    <a:p>
                      <a:pPr algn="r" fontAlgn="ctr"/>
                      <a:r>
                        <a:rPr lang="en-US" sz="900">
                          <a:effectLst/>
                        </a:rPr>
                        <a:t>1000.0</a:t>
                      </a:r>
                    </a:p>
                  </a:txBody>
                  <a:tcPr marL="47065" marR="47065" marT="23532" marB="23532" anchor="ctr"/>
                </a:tc>
                <a:tc>
                  <a:txBody>
                    <a:bodyPr/>
                    <a:lstStyle/>
                    <a:p>
                      <a:pPr algn="r" fontAlgn="ctr"/>
                      <a:r>
                        <a:rPr lang="en-US" sz="900">
                          <a:effectLst/>
                        </a:rPr>
                        <a:t>5650.0</a:t>
                      </a:r>
                    </a:p>
                  </a:txBody>
                  <a:tcPr marL="47065" marR="47065" marT="23532" marB="23532" anchor="ctr"/>
                </a:tc>
                <a:tc>
                  <a:txBody>
                    <a:bodyPr/>
                    <a:lstStyle/>
                    <a:p>
                      <a:pPr algn="r" fontAlgn="ctr"/>
                      <a:r>
                        <a:rPr lang="en-US" sz="900">
                          <a:effectLst/>
                        </a:rPr>
                        <a:t>10332.0</a:t>
                      </a:r>
                    </a:p>
                  </a:txBody>
                  <a:tcPr marL="47065" marR="47065" marT="23532" marB="23532" anchor="ctr"/>
                </a:tc>
                <a:tc>
                  <a:txBody>
                    <a:bodyPr/>
                    <a:lstStyle/>
                    <a:p>
                      <a:pPr algn="r" fontAlgn="ctr"/>
                      <a:r>
                        <a:rPr lang="en-US" sz="900">
                          <a:effectLst/>
                        </a:rPr>
                        <a:t>15209.0</a:t>
                      </a:r>
                    </a:p>
                  </a:txBody>
                  <a:tcPr marL="47065" marR="47065" marT="23532" marB="23532" anchor="ctr"/>
                </a:tc>
                <a:tc>
                  <a:txBody>
                    <a:bodyPr/>
                    <a:lstStyle/>
                    <a:p>
                      <a:pPr algn="r" fontAlgn="ctr"/>
                      <a:r>
                        <a:rPr lang="en-US" sz="900">
                          <a:effectLst/>
                        </a:rPr>
                        <a:t>19999.0</a:t>
                      </a:r>
                    </a:p>
                  </a:txBody>
                  <a:tcPr marL="47065" marR="47065" marT="23532" marB="23532" anchor="ctr"/>
                </a:tc>
                <a:extLst>
                  <a:ext uri="{0D108BD9-81ED-4DB2-BD59-A6C34878D82A}">
                    <a16:rowId xmlns:a16="http://schemas.microsoft.com/office/drawing/2014/main" val="10003"/>
                  </a:ext>
                </a:extLst>
              </a:tr>
              <a:tr h="391425">
                <a:tc>
                  <a:txBody>
                    <a:bodyPr/>
                    <a:lstStyle/>
                    <a:p>
                      <a:pPr algn="r" fontAlgn="ctr"/>
                      <a:r>
                        <a:rPr lang="en-US" sz="1200" dirty="0">
                          <a:effectLst/>
                        </a:rPr>
                        <a:t>Sleep</a:t>
                      </a:r>
                      <a:r>
                        <a:rPr lang="en-US" sz="1200" baseline="0" dirty="0">
                          <a:effectLst/>
                        </a:rPr>
                        <a:t> </a:t>
                      </a:r>
                      <a:r>
                        <a:rPr lang="en-US" sz="1200" dirty="0">
                          <a:effectLst/>
                        </a:rPr>
                        <a:t>hours</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6.509245</a:t>
                      </a:r>
                    </a:p>
                  </a:txBody>
                  <a:tcPr marL="47065" marR="47065" marT="23532" marB="23532" anchor="ctr"/>
                </a:tc>
                <a:tc>
                  <a:txBody>
                    <a:bodyPr/>
                    <a:lstStyle/>
                    <a:p>
                      <a:pPr algn="r" fontAlgn="ctr"/>
                      <a:r>
                        <a:rPr lang="en-US" sz="900">
                          <a:effectLst/>
                        </a:rPr>
                        <a:t>2.030890</a:t>
                      </a:r>
                    </a:p>
                  </a:txBody>
                  <a:tcPr marL="47065" marR="47065" marT="23532" marB="23532" anchor="ctr"/>
                </a:tc>
                <a:tc>
                  <a:txBody>
                    <a:bodyPr/>
                    <a:lstStyle/>
                    <a:p>
                      <a:pPr algn="r" fontAlgn="ctr"/>
                      <a:r>
                        <a:rPr lang="en-US" sz="900">
                          <a:effectLst/>
                        </a:rPr>
                        <a:t>3.0</a:t>
                      </a:r>
                    </a:p>
                  </a:txBody>
                  <a:tcPr marL="47065" marR="47065" marT="23532" marB="23532" anchor="ctr"/>
                </a:tc>
                <a:tc>
                  <a:txBody>
                    <a:bodyPr/>
                    <a:lstStyle/>
                    <a:p>
                      <a:pPr algn="r" fontAlgn="ctr"/>
                      <a:r>
                        <a:rPr lang="en-US" sz="900">
                          <a:effectLst/>
                        </a:rPr>
                        <a:t>4.8</a:t>
                      </a:r>
                    </a:p>
                  </a:txBody>
                  <a:tcPr marL="47065" marR="47065" marT="23532" marB="23532" anchor="ctr"/>
                </a:tc>
                <a:tc>
                  <a:txBody>
                    <a:bodyPr/>
                    <a:lstStyle/>
                    <a:p>
                      <a:pPr algn="r" fontAlgn="ctr"/>
                      <a:r>
                        <a:rPr lang="en-US" sz="900">
                          <a:effectLst/>
                        </a:rPr>
                        <a:t>6.5</a:t>
                      </a:r>
                    </a:p>
                  </a:txBody>
                  <a:tcPr marL="47065" marR="47065" marT="23532" marB="23532" anchor="ctr"/>
                </a:tc>
                <a:tc>
                  <a:txBody>
                    <a:bodyPr/>
                    <a:lstStyle/>
                    <a:p>
                      <a:pPr algn="r" fontAlgn="ctr"/>
                      <a:r>
                        <a:rPr lang="en-US" sz="900">
                          <a:effectLst/>
                        </a:rPr>
                        <a:t>8.3</a:t>
                      </a:r>
                    </a:p>
                  </a:txBody>
                  <a:tcPr marL="47065" marR="47065" marT="23532" marB="23532" anchor="ctr"/>
                </a:tc>
                <a:tc>
                  <a:txBody>
                    <a:bodyPr/>
                    <a:lstStyle/>
                    <a:p>
                      <a:pPr algn="r" fontAlgn="ctr"/>
                      <a:r>
                        <a:rPr lang="en-US" sz="900">
                          <a:effectLst/>
                        </a:rPr>
                        <a:t>10.0</a:t>
                      </a:r>
                    </a:p>
                  </a:txBody>
                  <a:tcPr marL="47065" marR="47065" marT="23532" marB="23532" anchor="ctr"/>
                </a:tc>
                <a:extLst>
                  <a:ext uri="{0D108BD9-81ED-4DB2-BD59-A6C34878D82A}">
                    <a16:rowId xmlns:a16="http://schemas.microsoft.com/office/drawing/2014/main" val="10004"/>
                  </a:ext>
                </a:extLst>
              </a:tr>
              <a:tr h="391425">
                <a:tc>
                  <a:txBody>
                    <a:bodyPr/>
                    <a:lstStyle/>
                    <a:p>
                      <a:pPr algn="r" fontAlgn="ctr"/>
                      <a:r>
                        <a:rPr lang="en-US" sz="1200" dirty="0">
                          <a:effectLst/>
                        </a:rPr>
                        <a:t>Water</a:t>
                      </a:r>
                      <a:r>
                        <a:rPr lang="en-US" sz="1200" baseline="0" dirty="0">
                          <a:effectLst/>
                        </a:rPr>
                        <a:t> </a:t>
                      </a:r>
                      <a:r>
                        <a:rPr lang="en-US" sz="1200" dirty="0" err="1">
                          <a:effectLst/>
                        </a:rPr>
                        <a:t>intakE</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2.740521</a:t>
                      </a:r>
                    </a:p>
                  </a:txBody>
                  <a:tcPr marL="47065" marR="47065" marT="23532" marB="23532" anchor="ctr"/>
                </a:tc>
                <a:tc>
                  <a:txBody>
                    <a:bodyPr/>
                    <a:lstStyle/>
                    <a:p>
                      <a:pPr algn="r" fontAlgn="ctr"/>
                      <a:r>
                        <a:rPr lang="en-US" sz="900">
                          <a:effectLst/>
                        </a:rPr>
                        <a:t>1.302781</a:t>
                      </a:r>
                    </a:p>
                  </a:txBody>
                  <a:tcPr marL="47065" marR="47065" marT="23532" marB="23532" anchor="ctr"/>
                </a:tc>
                <a:tc>
                  <a:txBody>
                    <a:bodyPr/>
                    <a:lstStyle/>
                    <a:p>
                      <a:pPr algn="r" fontAlgn="ctr"/>
                      <a:r>
                        <a:rPr lang="en-US" sz="900">
                          <a:effectLst/>
                        </a:rPr>
                        <a:t>0.5</a:t>
                      </a:r>
                    </a:p>
                  </a:txBody>
                  <a:tcPr marL="47065" marR="47065" marT="23532" marB="23532" anchor="ctr"/>
                </a:tc>
                <a:tc>
                  <a:txBody>
                    <a:bodyPr/>
                    <a:lstStyle/>
                    <a:p>
                      <a:pPr algn="r" fontAlgn="ctr"/>
                      <a:r>
                        <a:rPr lang="en-US" sz="900">
                          <a:effectLst/>
                        </a:rPr>
                        <a:t>1.6</a:t>
                      </a:r>
                    </a:p>
                  </a:txBody>
                  <a:tcPr marL="47065" marR="47065" marT="23532" marB="23532" anchor="ctr"/>
                </a:tc>
                <a:tc>
                  <a:txBody>
                    <a:bodyPr/>
                    <a:lstStyle/>
                    <a:p>
                      <a:pPr algn="r" fontAlgn="ctr"/>
                      <a:r>
                        <a:rPr lang="en-US" sz="900">
                          <a:effectLst/>
                        </a:rPr>
                        <a:t>2.7</a:t>
                      </a:r>
                    </a:p>
                  </a:txBody>
                  <a:tcPr marL="47065" marR="47065" marT="23532" marB="23532" anchor="ctr"/>
                </a:tc>
                <a:tc>
                  <a:txBody>
                    <a:bodyPr/>
                    <a:lstStyle/>
                    <a:p>
                      <a:pPr algn="r" fontAlgn="ctr"/>
                      <a:r>
                        <a:rPr lang="en-US" sz="900">
                          <a:effectLst/>
                        </a:rPr>
                        <a:t>3.9</a:t>
                      </a:r>
                    </a:p>
                  </a:txBody>
                  <a:tcPr marL="47065" marR="47065" marT="23532" marB="23532" anchor="ctr"/>
                </a:tc>
                <a:tc>
                  <a:txBody>
                    <a:bodyPr/>
                    <a:lstStyle/>
                    <a:p>
                      <a:pPr algn="r" fontAlgn="ctr"/>
                      <a:r>
                        <a:rPr lang="en-US" sz="900">
                          <a:effectLst/>
                        </a:rPr>
                        <a:t>5.0</a:t>
                      </a:r>
                    </a:p>
                  </a:txBody>
                  <a:tcPr marL="47065" marR="47065" marT="23532" marB="23532" anchor="ctr"/>
                </a:tc>
                <a:extLst>
                  <a:ext uri="{0D108BD9-81ED-4DB2-BD59-A6C34878D82A}">
                    <a16:rowId xmlns:a16="http://schemas.microsoft.com/office/drawing/2014/main" val="10005"/>
                  </a:ext>
                </a:extLst>
              </a:tr>
              <a:tr h="559179">
                <a:tc>
                  <a:txBody>
                    <a:bodyPr/>
                    <a:lstStyle/>
                    <a:p>
                      <a:pPr algn="r" fontAlgn="ctr"/>
                      <a:r>
                        <a:rPr lang="en-US" sz="1200" dirty="0">
                          <a:effectLst/>
                        </a:rPr>
                        <a:t>Calories</a:t>
                      </a:r>
                      <a:r>
                        <a:rPr lang="en-US" sz="1200" baseline="0" dirty="0">
                          <a:effectLst/>
                        </a:rPr>
                        <a:t> </a:t>
                      </a:r>
                      <a:r>
                        <a:rPr lang="en-US" sz="1200" dirty="0">
                          <a:effectLst/>
                        </a:rPr>
                        <a:t>consumed</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2601.380055</a:t>
                      </a:r>
                    </a:p>
                  </a:txBody>
                  <a:tcPr marL="47065" marR="47065" marT="23532" marB="23532" anchor="ctr"/>
                </a:tc>
                <a:tc>
                  <a:txBody>
                    <a:bodyPr/>
                    <a:lstStyle/>
                    <a:p>
                      <a:pPr algn="r" fontAlgn="ctr"/>
                      <a:r>
                        <a:rPr lang="en-US" sz="900">
                          <a:effectLst/>
                        </a:rPr>
                        <a:t>808.542889</a:t>
                      </a:r>
                    </a:p>
                  </a:txBody>
                  <a:tcPr marL="47065" marR="47065" marT="23532" marB="23532" anchor="ctr"/>
                </a:tc>
                <a:tc>
                  <a:txBody>
                    <a:bodyPr/>
                    <a:lstStyle/>
                    <a:p>
                      <a:pPr algn="r" fontAlgn="ctr"/>
                      <a:r>
                        <a:rPr lang="en-US" sz="900">
                          <a:effectLst/>
                        </a:rPr>
                        <a:t>1200.0</a:t>
                      </a:r>
                    </a:p>
                  </a:txBody>
                  <a:tcPr marL="47065" marR="47065" marT="23532" marB="23532" anchor="ctr"/>
                </a:tc>
                <a:tc>
                  <a:txBody>
                    <a:bodyPr/>
                    <a:lstStyle/>
                    <a:p>
                      <a:pPr algn="r" fontAlgn="ctr"/>
                      <a:r>
                        <a:rPr lang="en-US" sz="900">
                          <a:effectLst/>
                        </a:rPr>
                        <a:t>1912.0</a:t>
                      </a:r>
                    </a:p>
                  </a:txBody>
                  <a:tcPr marL="47065" marR="47065" marT="23532" marB="23532" anchor="ctr"/>
                </a:tc>
                <a:tc>
                  <a:txBody>
                    <a:bodyPr/>
                    <a:lstStyle/>
                    <a:p>
                      <a:pPr algn="r" fontAlgn="ctr"/>
                      <a:r>
                        <a:rPr lang="en-US" sz="900">
                          <a:effectLst/>
                        </a:rPr>
                        <a:t>2597.0</a:t>
                      </a:r>
                    </a:p>
                  </a:txBody>
                  <a:tcPr marL="47065" marR="47065" marT="23532" marB="23532" anchor="ctr"/>
                </a:tc>
                <a:tc>
                  <a:txBody>
                    <a:bodyPr/>
                    <a:lstStyle/>
                    <a:p>
                      <a:pPr algn="r" fontAlgn="ctr"/>
                      <a:r>
                        <a:rPr lang="en-US" sz="900">
                          <a:effectLst/>
                        </a:rPr>
                        <a:t>3292.0</a:t>
                      </a:r>
                    </a:p>
                  </a:txBody>
                  <a:tcPr marL="47065" marR="47065" marT="23532" marB="23532" anchor="ctr"/>
                </a:tc>
                <a:tc>
                  <a:txBody>
                    <a:bodyPr/>
                    <a:lstStyle/>
                    <a:p>
                      <a:pPr algn="r" fontAlgn="ctr"/>
                      <a:r>
                        <a:rPr lang="en-US" sz="900" dirty="0">
                          <a:effectLst/>
                        </a:rPr>
                        <a:t>3999.0</a:t>
                      </a:r>
                    </a:p>
                  </a:txBody>
                  <a:tcPr marL="47065" marR="47065" marT="23532" marB="23532" anchor="ctr"/>
                </a:tc>
                <a:extLst>
                  <a:ext uri="{0D108BD9-81ED-4DB2-BD59-A6C34878D82A}">
                    <a16:rowId xmlns:a16="http://schemas.microsoft.com/office/drawing/2014/main" val="10006"/>
                  </a:ext>
                </a:extLst>
              </a:tr>
              <a:tr h="223672">
                <a:tc>
                  <a:txBody>
                    <a:bodyPr/>
                    <a:lstStyle/>
                    <a:p>
                      <a:pPr algn="r" fontAlgn="ctr"/>
                      <a:r>
                        <a:rPr lang="en-US" sz="1200" dirty="0">
                          <a:effectLst/>
                        </a:rPr>
                        <a:t>Smoker</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0.203235</a:t>
                      </a:r>
                    </a:p>
                  </a:txBody>
                  <a:tcPr marL="47065" marR="47065" marT="23532" marB="23532" anchor="ctr"/>
                </a:tc>
                <a:tc>
                  <a:txBody>
                    <a:bodyPr/>
                    <a:lstStyle/>
                    <a:p>
                      <a:pPr algn="r" fontAlgn="ctr"/>
                      <a:r>
                        <a:rPr lang="en-US" sz="900">
                          <a:effectLst/>
                        </a:rPr>
                        <a:t>0.402421</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1.0</a:t>
                      </a:r>
                    </a:p>
                  </a:txBody>
                  <a:tcPr marL="47065" marR="47065" marT="23532" marB="23532" anchor="ctr"/>
                </a:tc>
                <a:extLst>
                  <a:ext uri="{0D108BD9-81ED-4DB2-BD59-A6C34878D82A}">
                    <a16:rowId xmlns:a16="http://schemas.microsoft.com/office/drawing/2014/main" val="10007"/>
                  </a:ext>
                </a:extLst>
              </a:tr>
              <a:tr h="223672">
                <a:tc>
                  <a:txBody>
                    <a:bodyPr/>
                    <a:lstStyle/>
                    <a:p>
                      <a:pPr algn="r" fontAlgn="ctr"/>
                      <a:r>
                        <a:rPr lang="en-US" sz="1200" dirty="0">
                          <a:effectLst/>
                        </a:rPr>
                        <a:t>Alcohol</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0.297544</a:t>
                      </a:r>
                    </a:p>
                  </a:txBody>
                  <a:tcPr marL="47065" marR="47065" marT="23532" marB="23532" anchor="ctr"/>
                </a:tc>
                <a:tc>
                  <a:txBody>
                    <a:bodyPr/>
                    <a:lstStyle/>
                    <a:p>
                      <a:pPr algn="r" fontAlgn="ctr"/>
                      <a:r>
                        <a:rPr lang="en-US" sz="900">
                          <a:effectLst/>
                        </a:rPr>
                        <a:t>0.457195</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1.0</a:t>
                      </a:r>
                    </a:p>
                  </a:txBody>
                  <a:tcPr marL="47065" marR="47065" marT="23532" marB="23532" anchor="ctr"/>
                </a:tc>
                <a:tc>
                  <a:txBody>
                    <a:bodyPr/>
                    <a:lstStyle/>
                    <a:p>
                      <a:pPr algn="r" fontAlgn="ctr"/>
                      <a:r>
                        <a:rPr lang="en-US" sz="900">
                          <a:effectLst/>
                        </a:rPr>
                        <a:t>1.0</a:t>
                      </a:r>
                    </a:p>
                  </a:txBody>
                  <a:tcPr marL="47065" marR="47065" marT="23532" marB="23532" anchor="ctr"/>
                </a:tc>
                <a:extLst>
                  <a:ext uri="{0D108BD9-81ED-4DB2-BD59-A6C34878D82A}">
                    <a16:rowId xmlns:a16="http://schemas.microsoft.com/office/drawing/2014/main" val="10008"/>
                  </a:ext>
                </a:extLst>
              </a:tr>
              <a:tr h="391425">
                <a:tc>
                  <a:txBody>
                    <a:bodyPr/>
                    <a:lstStyle/>
                    <a:p>
                      <a:pPr algn="r" fontAlgn="ctr"/>
                      <a:r>
                        <a:rPr lang="en-US" sz="1200" dirty="0">
                          <a:effectLst/>
                        </a:rPr>
                        <a:t>Resting</a:t>
                      </a:r>
                      <a:r>
                        <a:rPr lang="en-US" sz="1200" baseline="0" dirty="0">
                          <a:effectLst/>
                        </a:rPr>
                        <a:t> </a:t>
                      </a:r>
                      <a:r>
                        <a:rPr lang="en-US" sz="1200" dirty="0" err="1">
                          <a:effectLst/>
                        </a:rPr>
                        <a:t>hr</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74.559175</a:t>
                      </a:r>
                    </a:p>
                  </a:txBody>
                  <a:tcPr marL="47065" marR="47065" marT="23532" marB="23532" anchor="ctr"/>
                </a:tc>
                <a:tc>
                  <a:txBody>
                    <a:bodyPr/>
                    <a:lstStyle/>
                    <a:p>
                      <a:pPr algn="r" fontAlgn="ctr"/>
                      <a:r>
                        <a:rPr lang="en-US" sz="900">
                          <a:effectLst/>
                        </a:rPr>
                        <a:t>14.378296</a:t>
                      </a:r>
                    </a:p>
                  </a:txBody>
                  <a:tcPr marL="47065" marR="47065" marT="23532" marB="23532" anchor="ctr"/>
                </a:tc>
                <a:tc>
                  <a:txBody>
                    <a:bodyPr/>
                    <a:lstStyle/>
                    <a:p>
                      <a:pPr algn="r" fontAlgn="ctr"/>
                      <a:r>
                        <a:rPr lang="en-US" sz="900">
                          <a:effectLst/>
                        </a:rPr>
                        <a:t>50.0</a:t>
                      </a:r>
                    </a:p>
                  </a:txBody>
                  <a:tcPr marL="47065" marR="47065" marT="23532" marB="23532" anchor="ctr"/>
                </a:tc>
                <a:tc>
                  <a:txBody>
                    <a:bodyPr/>
                    <a:lstStyle/>
                    <a:p>
                      <a:pPr algn="r" fontAlgn="ctr"/>
                      <a:r>
                        <a:rPr lang="en-US" sz="900">
                          <a:effectLst/>
                        </a:rPr>
                        <a:t>62.0</a:t>
                      </a:r>
                    </a:p>
                  </a:txBody>
                  <a:tcPr marL="47065" marR="47065" marT="23532" marB="23532" anchor="ctr"/>
                </a:tc>
                <a:tc>
                  <a:txBody>
                    <a:bodyPr/>
                    <a:lstStyle/>
                    <a:p>
                      <a:pPr algn="r" fontAlgn="ctr"/>
                      <a:r>
                        <a:rPr lang="en-US" sz="900">
                          <a:effectLst/>
                        </a:rPr>
                        <a:t>75.0</a:t>
                      </a:r>
                    </a:p>
                  </a:txBody>
                  <a:tcPr marL="47065" marR="47065" marT="23532" marB="23532" anchor="ctr"/>
                </a:tc>
                <a:tc>
                  <a:txBody>
                    <a:bodyPr/>
                    <a:lstStyle/>
                    <a:p>
                      <a:pPr algn="r" fontAlgn="ctr"/>
                      <a:r>
                        <a:rPr lang="en-US" sz="900">
                          <a:effectLst/>
                        </a:rPr>
                        <a:t>87.0</a:t>
                      </a:r>
                    </a:p>
                  </a:txBody>
                  <a:tcPr marL="47065" marR="47065" marT="23532" marB="23532" anchor="ctr"/>
                </a:tc>
                <a:tc>
                  <a:txBody>
                    <a:bodyPr/>
                    <a:lstStyle/>
                    <a:p>
                      <a:pPr algn="r" fontAlgn="ctr"/>
                      <a:r>
                        <a:rPr lang="en-US" sz="900">
                          <a:effectLst/>
                        </a:rPr>
                        <a:t>99.0</a:t>
                      </a:r>
                    </a:p>
                  </a:txBody>
                  <a:tcPr marL="47065" marR="47065" marT="23532" marB="23532" anchor="ctr"/>
                </a:tc>
                <a:extLst>
                  <a:ext uri="{0D108BD9-81ED-4DB2-BD59-A6C34878D82A}">
                    <a16:rowId xmlns:a16="http://schemas.microsoft.com/office/drawing/2014/main" val="10009"/>
                  </a:ext>
                </a:extLst>
              </a:tr>
              <a:tr h="391425">
                <a:tc>
                  <a:txBody>
                    <a:bodyPr/>
                    <a:lstStyle/>
                    <a:p>
                      <a:pPr algn="r" fontAlgn="ctr"/>
                      <a:r>
                        <a:rPr lang="en-US" sz="1200" dirty="0">
                          <a:effectLst/>
                        </a:rPr>
                        <a:t>Systolic</a:t>
                      </a:r>
                      <a:r>
                        <a:rPr lang="en-US" sz="1200" baseline="0" dirty="0">
                          <a:effectLst/>
                        </a:rPr>
                        <a:t> </a:t>
                      </a:r>
                      <a:r>
                        <a:rPr lang="en-US" sz="1200" dirty="0" err="1">
                          <a:effectLst/>
                        </a:rPr>
                        <a:t>bp</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134.650664</a:t>
                      </a:r>
                    </a:p>
                  </a:txBody>
                  <a:tcPr marL="47065" marR="47065" marT="23532" marB="23532" anchor="ctr"/>
                </a:tc>
                <a:tc>
                  <a:txBody>
                    <a:bodyPr/>
                    <a:lstStyle/>
                    <a:p>
                      <a:pPr algn="r" fontAlgn="ctr"/>
                      <a:r>
                        <a:rPr lang="en-US" sz="900">
                          <a:effectLst/>
                        </a:rPr>
                        <a:t>25.917236</a:t>
                      </a:r>
                    </a:p>
                  </a:txBody>
                  <a:tcPr marL="47065" marR="47065" marT="23532" marB="23532" anchor="ctr"/>
                </a:tc>
                <a:tc>
                  <a:txBody>
                    <a:bodyPr/>
                    <a:lstStyle/>
                    <a:p>
                      <a:pPr algn="r" fontAlgn="ctr"/>
                      <a:r>
                        <a:rPr lang="en-US" sz="900">
                          <a:effectLst/>
                        </a:rPr>
                        <a:t>90.0</a:t>
                      </a:r>
                    </a:p>
                  </a:txBody>
                  <a:tcPr marL="47065" marR="47065" marT="23532" marB="23532" anchor="ctr"/>
                </a:tc>
                <a:tc>
                  <a:txBody>
                    <a:bodyPr/>
                    <a:lstStyle/>
                    <a:p>
                      <a:pPr algn="r" fontAlgn="ctr"/>
                      <a:r>
                        <a:rPr lang="en-US" sz="900">
                          <a:effectLst/>
                        </a:rPr>
                        <a:t>112.0</a:t>
                      </a:r>
                    </a:p>
                  </a:txBody>
                  <a:tcPr marL="47065" marR="47065" marT="23532" marB="23532" anchor="ctr"/>
                </a:tc>
                <a:tc>
                  <a:txBody>
                    <a:bodyPr/>
                    <a:lstStyle/>
                    <a:p>
                      <a:pPr algn="r" fontAlgn="ctr"/>
                      <a:r>
                        <a:rPr lang="en-US" sz="900">
                          <a:effectLst/>
                        </a:rPr>
                        <a:t>135.0</a:t>
                      </a:r>
                    </a:p>
                  </a:txBody>
                  <a:tcPr marL="47065" marR="47065" marT="23532" marB="23532" anchor="ctr"/>
                </a:tc>
                <a:tc>
                  <a:txBody>
                    <a:bodyPr/>
                    <a:lstStyle/>
                    <a:p>
                      <a:pPr algn="r" fontAlgn="ctr"/>
                      <a:r>
                        <a:rPr lang="en-US" sz="900">
                          <a:effectLst/>
                        </a:rPr>
                        <a:t>157.0</a:t>
                      </a:r>
                    </a:p>
                  </a:txBody>
                  <a:tcPr marL="47065" marR="47065" marT="23532" marB="23532" anchor="ctr"/>
                </a:tc>
                <a:tc>
                  <a:txBody>
                    <a:bodyPr/>
                    <a:lstStyle/>
                    <a:p>
                      <a:pPr algn="r" fontAlgn="ctr"/>
                      <a:r>
                        <a:rPr lang="en-US" sz="900">
                          <a:effectLst/>
                        </a:rPr>
                        <a:t>179.0</a:t>
                      </a:r>
                    </a:p>
                  </a:txBody>
                  <a:tcPr marL="47065" marR="47065" marT="23532" marB="23532" anchor="ctr"/>
                </a:tc>
                <a:extLst>
                  <a:ext uri="{0D108BD9-81ED-4DB2-BD59-A6C34878D82A}">
                    <a16:rowId xmlns:a16="http://schemas.microsoft.com/office/drawing/2014/main" val="10010"/>
                  </a:ext>
                </a:extLst>
              </a:tr>
              <a:tr h="391425">
                <a:tc>
                  <a:txBody>
                    <a:bodyPr/>
                    <a:lstStyle/>
                    <a:p>
                      <a:pPr algn="r" fontAlgn="ctr"/>
                      <a:r>
                        <a:rPr lang="en-US" sz="1200" dirty="0">
                          <a:effectLst/>
                        </a:rPr>
                        <a:t>Diastolic</a:t>
                      </a:r>
                      <a:r>
                        <a:rPr lang="en-US" sz="1200" baseline="0" dirty="0">
                          <a:effectLst/>
                        </a:rPr>
                        <a:t> </a:t>
                      </a:r>
                      <a:r>
                        <a:rPr lang="en-US" sz="1200" dirty="0" err="1">
                          <a:effectLst/>
                        </a:rPr>
                        <a:t>bp</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89.339096</a:t>
                      </a:r>
                    </a:p>
                  </a:txBody>
                  <a:tcPr marL="47065" marR="47065" marT="23532" marB="23532" anchor="ctr"/>
                </a:tc>
                <a:tc>
                  <a:txBody>
                    <a:bodyPr/>
                    <a:lstStyle/>
                    <a:p>
                      <a:pPr algn="r" fontAlgn="ctr"/>
                      <a:r>
                        <a:rPr lang="en-US" sz="900">
                          <a:effectLst/>
                        </a:rPr>
                        <a:t>17.432591</a:t>
                      </a:r>
                    </a:p>
                  </a:txBody>
                  <a:tcPr marL="47065" marR="47065" marT="23532" marB="23532" anchor="ctr"/>
                </a:tc>
                <a:tc>
                  <a:txBody>
                    <a:bodyPr/>
                    <a:lstStyle/>
                    <a:p>
                      <a:pPr algn="r" fontAlgn="ctr"/>
                      <a:r>
                        <a:rPr lang="en-US" sz="900">
                          <a:effectLst/>
                        </a:rPr>
                        <a:t>60.0</a:t>
                      </a:r>
                    </a:p>
                  </a:txBody>
                  <a:tcPr marL="47065" marR="47065" marT="23532" marB="23532" anchor="ctr"/>
                </a:tc>
                <a:tc>
                  <a:txBody>
                    <a:bodyPr/>
                    <a:lstStyle/>
                    <a:p>
                      <a:pPr algn="r" fontAlgn="ctr"/>
                      <a:r>
                        <a:rPr lang="en-US" sz="900">
                          <a:effectLst/>
                        </a:rPr>
                        <a:t>74.0</a:t>
                      </a:r>
                    </a:p>
                  </a:txBody>
                  <a:tcPr marL="47065" marR="47065" marT="23532" marB="23532" anchor="ctr"/>
                </a:tc>
                <a:tc>
                  <a:txBody>
                    <a:bodyPr/>
                    <a:lstStyle/>
                    <a:p>
                      <a:pPr algn="r" fontAlgn="ctr"/>
                      <a:r>
                        <a:rPr lang="en-US" sz="900">
                          <a:effectLst/>
                        </a:rPr>
                        <a:t>89.0</a:t>
                      </a:r>
                    </a:p>
                  </a:txBody>
                  <a:tcPr marL="47065" marR="47065" marT="23532" marB="23532" anchor="ctr"/>
                </a:tc>
                <a:tc>
                  <a:txBody>
                    <a:bodyPr/>
                    <a:lstStyle/>
                    <a:p>
                      <a:pPr algn="r" fontAlgn="ctr"/>
                      <a:r>
                        <a:rPr lang="en-US" sz="900">
                          <a:effectLst/>
                        </a:rPr>
                        <a:t>104.0</a:t>
                      </a:r>
                    </a:p>
                  </a:txBody>
                  <a:tcPr marL="47065" marR="47065" marT="23532" marB="23532" anchor="ctr"/>
                </a:tc>
                <a:tc>
                  <a:txBody>
                    <a:bodyPr/>
                    <a:lstStyle/>
                    <a:p>
                      <a:pPr algn="r" fontAlgn="ctr"/>
                      <a:r>
                        <a:rPr lang="en-US" sz="900">
                          <a:effectLst/>
                        </a:rPr>
                        <a:t>119.0</a:t>
                      </a:r>
                    </a:p>
                  </a:txBody>
                  <a:tcPr marL="47065" marR="47065" marT="23532" marB="23532" anchor="ctr"/>
                </a:tc>
                <a:extLst>
                  <a:ext uri="{0D108BD9-81ED-4DB2-BD59-A6C34878D82A}">
                    <a16:rowId xmlns:a16="http://schemas.microsoft.com/office/drawing/2014/main" val="10011"/>
                  </a:ext>
                </a:extLst>
              </a:tr>
              <a:tr h="391425">
                <a:tc>
                  <a:txBody>
                    <a:bodyPr/>
                    <a:lstStyle/>
                    <a:p>
                      <a:pPr algn="r" fontAlgn="ctr"/>
                      <a:r>
                        <a:rPr lang="en-US" sz="1200" dirty="0">
                          <a:effectLst/>
                        </a:rPr>
                        <a:t>cholesterol</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a:effectLst/>
                        </a:rPr>
                        <a:t>224.670624</a:t>
                      </a:r>
                    </a:p>
                  </a:txBody>
                  <a:tcPr marL="47065" marR="47065" marT="23532" marB="23532" anchor="ctr"/>
                </a:tc>
                <a:tc>
                  <a:txBody>
                    <a:bodyPr/>
                    <a:lstStyle/>
                    <a:p>
                      <a:pPr algn="r" fontAlgn="ctr"/>
                      <a:r>
                        <a:rPr lang="en-US" sz="900">
                          <a:effectLst/>
                        </a:rPr>
                        <a:t>43.490001</a:t>
                      </a:r>
                    </a:p>
                  </a:txBody>
                  <a:tcPr marL="47065" marR="47065" marT="23532" marB="23532" anchor="ctr"/>
                </a:tc>
                <a:tc>
                  <a:txBody>
                    <a:bodyPr/>
                    <a:lstStyle/>
                    <a:p>
                      <a:pPr algn="r" fontAlgn="ctr"/>
                      <a:r>
                        <a:rPr lang="en-US" sz="900">
                          <a:effectLst/>
                        </a:rPr>
                        <a:t>150.0</a:t>
                      </a:r>
                    </a:p>
                  </a:txBody>
                  <a:tcPr marL="47065" marR="47065" marT="23532" marB="23532" anchor="ctr"/>
                </a:tc>
                <a:tc>
                  <a:txBody>
                    <a:bodyPr/>
                    <a:lstStyle/>
                    <a:p>
                      <a:pPr algn="r" fontAlgn="ctr"/>
                      <a:r>
                        <a:rPr lang="en-US" sz="900">
                          <a:effectLst/>
                        </a:rPr>
                        <a:t>187.0</a:t>
                      </a:r>
                    </a:p>
                  </a:txBody>
                  <a:tcPr marL="47065" marR="47065" marT="23532" marB="23532" anchor="ctr"/>
                </a:tc>
                <a:tc>
                  <a:txBody>
                    <a:bodyPr/>
                    <a:lstStyle/>
                    <a:p>
                      <a:pPr algn="r" fontAlgn="ctr"/>
                      <a:r>
                        <a:rPr lang="en-US" sz="900">
                          <a:effectLst/>
                        </a:rPr>
                        <a:t>224.0</a:t>
                      </a:r>
                    </a:p>
                  </a:txBody>
                  <a:tcPr marL="47065" marR="47065" marT="23532" marB="23532" anchor="ctr"/>
                </a:tc>
                <a:tc>
                  <a:txBody>
                    <a:bodyPr/>
                    <a:lstStyle/>
                    <a:p>
                      <a:pPr algn="r" fontAlgn="ctr"/>
                      <a:r>
                        <a:rPr lang="en-US" sz="900">
                          <a:effectLst/>
                        </a:rPr>
                        <a:t>262.0</a:t>
                      </a:r>
                    </a:p>
                  </a:txBody>
                  <a:tcPr marL="47065" marR="47065" marT="23532" marB="23532" anchor="ctr"/>
                </a:tc>
                <a:tc>
                  <a:txBody>
                    <a:bodyPr/>
                    <a:lstStyle/>
                    <a:p>
                      <a:pPr algn="r" fontAlgn="ctr"/>
                      <a:r>
                        <a:rPr lang="en-US" sz="900">
                          <a:effectLst/>
                        </a:rPr>
                        <a:t>299.0</a:t>
                      </a:r>
                    </a:p>
                  </a:txBody>
                  <a:tcPr marL="47065" marR="47065" marT="23532" marB="23532" anchor="ctr"/>
                </a:tc>
                <a:extLst>
                  <a:ext uri="{0D108BD9-81ED-4DB2-BD59-A6C34878D82A}">
                    <a16:rowId xmlns:a16="http://schemas.microsoft.com/office/drawing/2014/main" val="10012"/>
                  </a:ext>
                </a:extLst>
              </a:tr>
              <a:tr h="391425">
                <a:tc>
                  <a:txBody>
                    <a:bodyPr/>
                    <a:lstStyle/>
                    <a:p>
                      <a:pPr algn="r" fontAlgn="ctr"/>
                      <a:r>
                        <a:rPr lang="en-US" sz="1200" dirty="0">
                          <a:effectLst/>
                        </a:rPr>
                        <a:t>Family</a:t>
                      </a:r>
                      <a:r>
                        <a:rPr lang="en-US" sz="1200" baseline="0" dirty="0">
                          <a:effectLst/>
                        </a:rPr>
                        <a:t> </a:t>
                      </a:r>
                      <a:r>
                        <a:rPr lang="en-US" sz="1200" dirty="0">
                          <a:effectLst/>
                        </a:rPr>
                        <a:t>history</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dirty="0">
                          <a:effectLst/>
                        </a:rPr>
                        <a:t>0.299844</a:t>
                      </a:r>
                    </a:p>
                  </a:txBody>
                  <a:tcPr marL="47065" marR="47065" marT="23532" marB="23532" anchor="ctr"/>
                </a:tc>
                <a:tc>
                  <a:txBody>
                    <a:bodyPr/>
                    <a:lstStyle/>
                    <a:p>
                      <a:pPr algn="r" fontAlgn="ctr"/>
                      <a:r>
                        <a:rPr lang="en-US" sz="900">
                          <a:effectLst/>
                        </a:rPr>
                        <a:t>0.458207</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dirty="0">
                          <a:effectLst/>
                        </a:rPr>
                        <a:t>0.0</a:t>
                      </a:r>
                    </a:p>
                  </a:txBody>
                  <a:tcPr marL="47065" marR="47065" marT="23532" marB="23532" anchor="ctr"/>
                </a:tc>
                <a:tc>
                  <a:txBody>
                    <a:bodyPr/>
                    <a:lstStyle/>
                    <a:p>
                      <a:pPr algn="r" fontAlgn="ctr"/>
                      <a:r>
                        <a:rPr lang="en-US" sz="900">
                          <a:effectLst/>
                        </a:rPr>
                        <a:t>1.0</a:t>
                      </a:r>
                    </a:p>
                  </a:txBody>
                  <a:tcPr marL="47065" marR="47065" marT="23532" marB="23532" anchor="ctr"/>
                </a:tc>
                <a:tc>
                  <a:txBody>
                    <a:bodyPr/>
                    <a:lstStyle/>
                    <a:p>
                      <a:pPr algn="r" fontAlgn="ctr"/>
                      <a:r>
                        <a:rPr lang="en-US" sz="900">
                          <a:effectLst/>
                        </a:rPr>
                        <a:t>1.0</a:t>
                      </a:r>
                    </a:p>
                  </a:txBody>
                  <a:tcPr marL="47065" marR="47065" marT="23532" marB="23532" anchor="ctr"/>
                </a:tc>
                <a:extLst>
                  <a:ext uri="{0D108BD9-81ED-4DB2-BD59-A6C34878D82A}">
                    <a16:rowId xmlns:a16="http://schemas.microsoft.com/office/drawing/2014/main" val="10013"/>
                  </a:ext>
                </a:extLst>
              </a:tr>
              <a:tr h="391425">
                <a:tc>
                  <a:txBody>
                    <a:bodyPr/>
                    <a:lstStyle/>
                    <a:p>
                      <a:pPr algn="r" fontAlgn="ctr"/>
                      <a:r>
                        <a:rPr lang="en-US" sz="1200" dirty="0">
                          <a:effectLst/>
                        </a:rPr>
                        <a:t>Disease</a:t>
                      </a:r>
                      <a:r>
                        <a:rPr lang="en-US" sz="1200" baseline="0" dirty="0">
                          <a:effectLst/>
                        </a:rPr>
                        <a:t> </a:t>
                      </a:r>
                      <a:r>
                        <a:rPr lang="en-US" sz="1200" dirty="0">
                          <a:effectLst/>
                        </a:rPr>
                        <a:t>risk</a:t>
                      </a:r>
                      <a:endParaRPr lang="en-US" sz="1200" b="1" dirty="0">
                        <a:effectLst/>
                      </a:endParaRPr>
                    </a:p>
                  </a:txBody>
                  <a:tcPr marL="47065" marR="47065" marT="23532" marB="23532" anchor="ctr"/>
                </a:tc>
                <a:tc>
                  <a:txBody>
                    <a:bodyPr/>
                    <a:lstStyle/>
                    <a:p>
                      <a:pPr algn="r" fontAlgn="ctr"/>
                      <a:r>
                        <a:rPr lang="en-US" sz="900">
                          <a:effectLst/>
                        </a:rPr>
                        <a:t>13477.0</a:t>
                      </a:r>
                    </a:p>
                  </a:txBody>
                  <a:tcPr marL="47065" marR="47065" marT="23532" marB="23532" anchor="ctr"/>
                </a:tc>
                <a:tc>
                  <a:txBody>
                    <a:bodyPr/>
                    <a:lstStyle/>
                    <a:p>
                      <a:pPr algn="r" fontAlgn="ctr"/>
                      <a:r>
                        <a:rPr lang="en-US" sz="900" dirty="0">
                          <a:effectLst/>
                        </a:rPr>
                        <a:t>0.245678</a:t>
                      </a:r>
                    </a:p>
                  </a:txBody>
                  <a:tcPr marL="47065" marR="47065" marT="23532" marB="23532" anchor="ctr"/>
                </a:tc>
                <a:tc>
                  <a:txBody>
                    <a:bodyPr/>
                    <a:lstStyle/>
                    <a:p>
                      <a:pPr algn="r" fontAlgn="ctr"/>
                      <a:r>
                        <a:rPr lang="en-US" sz="900">
                          <a:effectLst/>
                        </a:rPr>
                        <a:t>0.430504</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a:effectLst/>
                        </a:rPr>
                        <a:t>0.0</a:t>
                      </a:r>
                    </a:p>
                  </a:txBody>
                  <a:tcPr marL="47065" marR="47065" marT="23532" marB="23532" anchor="ctr"/>
                </a:tc>
                <a:tc>
                  <a:txBody>
                    <a:bodyPr/>
                    <a:lstStyle/>
                    <a:p>
                      <a:pPr algn="r" fontAlgn="ctr"/>
                      <a:r>
                        <a:rPr lang="en-US" sz="900" dirty="0">
                          <a:effectLst/>
                        </a:rPr>
                        <a:t>1.0</a:t>
                      </a:r>
                    </a:p>
                  </a:txBody>
                  <a:tcPr marL="47065" marR="47065" marT="23532" marB="23532" anchor="ct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17742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EF487-4BEF-9789-1F0B-DA4DAD08EBDB}"/>
              </a:ext>
            </a:extLst>
          </p:cNvPr>
          <p:cNvSpPr>
            <a:spLocks noGrp="1"/>
          </p:cNvSpPr>
          <p:nvPr>
            <p:ph type="title"/>
          </p:nvPr>
        </p:nvSpPr>
        <p:spPr>
          <a:xfrm>
            <a:off x="1683139" y="101384"/>
            <a:ext cx="9997440" cy="1143000"/>
          </a:xfrm>
        </p:spPr>
        <p:txBody>
          <a:bodyPr/>
          <a:lstStyle/>
          <a:p>
            <a:r>
              <a:rPr lang="en-IN" dirty="0">
                <a:latin typeface="Times New Roman" panose="02020603050405020304" pitchFamily="18" charset="0"/>
                <a:cs typeface="Times New Roman" panose="02020603050405020304" pitchFamily="18" charset="0"/>
              </a:rPr>
              <a:t>DATA  ANALYSIS TECHNIQUES</a:t>
            </a:r>
          </a:p>
        </p:txBody>
      </p:sp>
      <p:sp>
        <p:nvSpPr>
          <p:cNvPr id="3" name="Content Placeholder 2">
            <a:extLst>
              <a:ext uri="{FF2B5EF4-FFF2-40B4-BE49-F238E27FC236}">
                <a16:creationId xmlns:a16="http://schemas.microsoft.com/office/drawing/2014/main" id="{045DD39E-A394-F300-77E6-2D60E7D26C4E}"/>
              </a:ext>
            </a:extLst>
          </p:cNvPr>
          <p:cNvSpPr>
            <a:spLocks noGrp="1"/>
          </p:cNvSpPr>
          <p:nvPr>
            <p:ph idx="1"/>
          </p:nvPr>
        </p:nvSpPr>
        <p:spPr>
          <a:xfrm>
            <a:off x="1330024" y="1011768"/>
            <a:ext cx="10515600" cy="5439832"/>
          </a:xfrm>
        </p:spPr>
        <p:txBody>
          <a:bodyPr>
            <a:noAutofit/>
          </a:bodyPr>
          <a:lstStyle/>
          <a:p>
            <a:pPr marL="82296" indent="0">
              <a:buNone/>
            </a:pPr>
            <a:r>
              <a:rPr lang="en-IN" sz="2400" b="1" u="sng" dirty="0">
                <a:latin typeface="Times New Roman" panose="02020603050405020304" pitchFamily="18" charset="0"/>
                <a:cs typeface="Times New Roman" panose="02020603050405020304" pitchFamily="18" charset="0"/>
              </a:rPr>
              <a:t>Techniques Used</a:t>
            </a:r>
          </a:p>
          <a:p>
            <a:r>
              <a:rPr lang="en-IN" sz="2400" dirty="0">
                <a:latin typeface="Times New Roman" panose="02020603050405020304" pitchFamily="18" charset="0"/>
                <a:cs typeface="Times New Roman" panose="02020603050405020304" pitchFamily="18" charset="0"/>
              </a:rPr>
              <a:t>Descriptive statistics for feature understanding.</a:t>
            </a:r>
          </a:p>
          <a:p>
            <a:r>
              <a:rPr lang="en-IN" sz="2400" dirty="0">
                <a:latin typeface="Times New Roman" panose="02020603050405020304" pitchFamily="18" charset="0"/>
                <a:cs typeface="Times New Roman" panose="02020603050405020304" pitchFamily="18" charset="0"/>
              </a:rPr>
              <a:t>Visualization using histograms , boxplots , and </a:t>
            </a:r>
            <a:r>
              <a:rPr lang="en-IN" sz="2400" dirty="0" err="1">
                <a:latin typeface="Times New Roman" panose="02020603050405020304" pitchFamily="18" charset="0"/>
                <a:cs typeface="Times New Roman" panose="02020603050405020304" pitchFamily="18" charset="0"/>
              </a:rPr>
              <a:t>heatmaps</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Applied feature selection to reduce dimensionality.</a:t>
            </a:r>
          </a:p>
          <a:p>
            <a:r>
              <a:rPr lang="en-IN" sz="2400" dirty="0">
                <a:latin typeface="Times New Roman" panose="02020603050405020304" pitchFamily="18" charset="0"/>
                <a:cs typeface="Times New Roman" panose="02020603050405020304" pitchFamily="18" charset="0"/>
              </a:rPr>
              <a:t>Implemented SMOTE for class balancing.</a:t>
            </a:r>
          </a:p>
          <a:p>
            <a:pPr marL="82296" indent="0">
              <a:buNone/>
            </a:pPr>
            <a:r>
              <a:rPr lang="en-US" sz="2400" b="1" u="sng" dirty="0">
                <a:latin typeface="Times New Roman" panose="02020603050405020304" pitchFamily="18" charset="0"/>
                <a:cs typeface="Times New Roman" panose="02020603050405020304" pitchFamily="18" charset="0"/>
              </a:rPr>
              <a:t>Modeling</a:t>
            </a:r>
          </a:p>
          <a:p>
            <a:pPr marL="0" indent="0">
              <a:buNone/>
            </a:pPr>
            <a:r>
              <a:rPr lang="en-US" sz="2400" b="1" dirty="0">
                <a:latin typeface="Times New Roman" panose="02020603050405020304" pitchFamily="18" charset="0"/>
                <a:cs typeface="Times New Roman" panose="02020603050405020304" pitchFamily="18" charset="0"/>
              </a:rPr>
              <a:t>Classification Models</a:t>
            </a:r>
            <a:r>
              <a:rPr lang="en-US"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Model Choice</a:t>
            </a:r>
            <a:r>
              <a:rPr lang="en-US" dirty="0">
                <a:latin typeface="Times New Roman" panose="02020603050405020304" pitchFamily="18" charset="0"/>
                <a:cs typeface="Times New Roman" panose="02020603050405020304" pitchFamily="18" charset="0"/>
              </a:rPr>
              <a:t>: Used Logistic Regression, Decision Tree, Random Forest,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KNN, SVM, Naïve Bayes, Gradient Boosting, AdaBoost.</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Training and Testing</a:t>
            </a:r>
            <a:r>
              <a:rPr lang="en-US" dirty="0">
                <a:latin typeface="Times New Roman" panose="02020603050405020304" pitchFamily="18" charset="0"/>
                <a:cs typeface="Times New Roman" panose="02020603050405020304" pitchFamily="18" charset="0"/>
              </a:rPr>
              <a:t>: Data split into training and test sets for model validation.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76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5D76A-D7E7-2EBA-AD08-D0AEB7430067}"/>
              </a:ext>
            </a:extLst>
          </p:cNvPr>
          <p:cNvSpPr>
            <a:spLocks noGrp="1"/>
          </p:cNvSpPr>
          <p:nvPr>
            <p:ph idx="1"/>
          </p:nvPr>
        </p:nvSpPr>
        <p:spPr>
          <a:xfrm>
            <a:off x="1342053" y="102638"/>
            <a:ext cx="10515600" cy="6617109"/>
          </a:xfrm>
        </p:spPr>
        <p:txBody>
          <a:bodyPr/>
          <a:lstStyle/>
          <a:p>
            <a:pPr marL="82296" indent="0">
              <a:buNone/>
            </a:pPr>
            <a:r>
              <a:rPr lang="en-IN" b="1" dirty="0" err="1">
                <a:solidFill>
                  <a:schemeClr val="tx2">
                    <a:lumMod val="75000"/>
                  </a:schemeClr>
                </a:solidFill>
                <a:latin typeface="Times New Roman" panose="02020603050405020304" pitchFamily="18" charset="0"/>
                <a:cs typeface="Times New Roman" panose="02020603050405020304" pitchFamily="18" charset="0"/>
              </a:rPr>
              <a:t>Hyperparameter</a:t>
            </a:r>
            <a:r>
              <a:rPr lang="en-IN" b="1" dirty="0">
                <a:solidFill>
                  <a:schemeClr val="tx2">
                    <a:lumMod val="75000"/>
                  </a:schemeClr>
                </a:solidFill>
                <a:latin typeface="Times New Roman" panose="02020603050405020304" pitchFamily="18" charset="0"/>
                <a:cs typeface="Times New Roman" panose="02020603050405020304" pitchFamily="18" charset="0"/>
              </a:rPr>
              <a:t> Tuning</a:t>
            </a:r>
          </a:p>
          <a:p>
            <a:pPr marL="82296" indent="0">
              <a:buNone/>
            </a:pPr>
            <a:r>
              <a:rPr lang="en-US" sz="2400" dirty="0" err="1">
                <a:latin typeface="Times New Roman" panose="02020603050405020304" pitchFamily="18" charset="0"/>
                <a:cs typeface="Times New Roman" panose="02020603050405020304" pitchFamily="18" charset="0"/>
              </a:rPr>
              <a:t>Hyperparameter</a:t>
            </a:r>
            <a:r>
              <a:rPr lang="en-US" sz="2400" dirty="0">
                <a:latin typeface="Times New Roman" panose="02020603050405020304" pitchFamily="18" charset="0"/>
                <a:cs typeface="Times New Roman" panose="02020603050405020304" pitchFamily="18" charset="0"/>
              </a:rPr>
              <a:t> tuning is the process of selecting the optimal hyperparameters for a machine learning model to improve its performance and generalization ability. Hyperparameters are configuration settings that are set before the training process begins and control various aspects of the model and its training.</a:t>
            </a:r>
            <a:endParaRPr lang="en-IN" sz="2400" dirty="0">
              <a:latin typeface="Times New Roman" panose="02020603050405020304" pitchFamily="18" charset="0"/>
              <a:cs typeface="Times New Roman" panose="02020603050405020304" pitchFamily="18" charset="0"/>
            </a:endParaRPr>
          </a:p>
          <a:p>
            <a:pPr marL="0" indent="0">
              <a:buNone/>
            </a:pPr>
            <a:endParaRPr lang="en-US" sz="2000" b="1" u="sng" dirty="0">
              <a:latin typeface="Times New Roman" panose="02020603050405020304" pitchFamily="18" charset="0"/>
              <a:cs typeface="Times New Roman" panose="02020603050405020304" pitchFamily="18" charset="0"/>
            </a:endParaRPr>
          </a:p>
          <a:p>
            <a:pPr marL="0" indent="0">
              <a:buNone/>
            </a:pPr>
            <a:endParaRPr lang="en-US" sz="2400" b="1" u="sng" dirty="0">
              <a:latin typeface="Times New Roman" panose="02020603050405020304" pitchFamily="18" charset="0"/>
              <a:cs typeface="Times New Roman" panose="02020603050405020304" pitchFamily="18" charset="0"/>
            </a:endParaRPr>
          </a:p>
          <a:p>
            <a:pPr marL="0" indent="0">
              <a:buNone/>
            </a:pPr>
            <a:r>
              <a:rPr lang="en-US" sz="2400" b="1" u="sng" dirty="0" err="1">
                <a:latin typeface="Times New Roman" panose="02020603050405020304" pitchFamily="18" charset="0"/>
                <a:cs typeface="Times New Roman" panose="02020603050405020304" pitchFamily="18" charset="0"/>
              </a:rPr>
              <a:t>GridSearchCV</a:t>
            </a:r>
            <a:endParaRPr lang="en-US" sz="2400" b="1" u="sng" dirty="0">
              <a:latin typeface="Times New Roman" panose="02020603050405020304" pitchFamily="18" charset="0"/>
              <a:cs typeface="Times New Roman" panose="02020603050405020304" pitchFamily="18" charset="0"/>
            </a:endParaRPr>
          </a:p>
          <a:p>
            <a:pPr marL="82296" indent="0">
              <a:buNone/>
            </a:pPr>
            <a:r>
              <a:rPr lang="en-US" sz="2400" dirty="0">
                <a:latin typeface="Times New Roman" panose="02020603050405020304" pitchFamily="18" charset="0"/>
                <a:cs typeface="Times New Roman" panose="02020603050405020304" pitchFamily="18" charset="0"/>
              </a:rPr>
              <a:t>Automatic hyperparameter tuning tool.</a:t>
            </a:r>
          </a:p>
          <a:p>
            <a:pPr marL="82296" indent="0">
              <a:buNone/>
            </a:pPr>
            <a:r>
              <a:rPr lang="en-US" sz="2400" dirty="0">
                <a:latin typeface="Times New Roman" panose="02020603050405020304" pitchFamily="18" charset="0"/>
                <a:cs typeface="Times New Roman" panose="02020603050405020304" pitchFamily="18" charset="0"/>
              </a:rPr>
              <a:t>It tries all possible combinations of parameters you give and finds the </a:t>
            </a:r>
            <a:r>
              <a:rPr lang="en-US" sz="2400" b="1" dirty="0">
                <a:latin typeface="Times New Roman" panose="02020603050405020304" pitchFamily="18" charset="0"/>
                <a:cs typeface="Times New Roman" panose="02020603050405020304" pitchFamily="18" charset="0"/>
              </a:rPr>
              <a:t>best one</a:t>
            </a:r>
            <a:r>
              <a:rPr lang="en-US" sz="2400" dirty="0">
                <a:latin typeface="Times New Roman" panose="02020603050405020304" pitchFamily="18" charset="0"/>
                <a:cs typeface="Times New Roman" panose="02020603050405020304" pitchFamily="18" charset="0"/>
              </a:rPr>
              <a:t> based on accuracy or any scoring metric.</a:t>
            </a:r>
          </a:p>
        </p:txBody>
      </p:sp>
    </p:spTree>
    <p:extLst>
      <p:ext uri="{BB962C8B-B14F-4D97-AF65-F5344CB8AC3E}">
        <p14:creationId xmlns:p14="http://schemas.microsoft.com/office/powerpoint/2010/main" val="91135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E4A2-AD4A-69E7-513A-37F816646D53}"/>
              </a:ext>
            </a:extLst>
          </p:cNvPr>
          <p:cNvSpPr>
            <a:spLocks noGrp="1"/>
          </p:cNvSpPr>
          <p:nvPr>
            <p:ph type="title"/>
          </p:nvPr>
        </p:nvSpPr>
        <p:spPr>
          <a:xfrm>
            <a:off x="1424163" y="-185859"/>
            <a:ext cx="10515600" cy="1325563"/>
          </a:xfrm>
        </p:spPr>
        <p:txBody>
          <a:bodyPr/>
          <a:lstStyle/>
          <a:p>
            <a:r>
              <a:rPr lang="en-IN" dirty="0">
                <a:latin typeface="Times New Roman" panose="02020603050405020304" pitchFamily="18" charset="0"/>
                <a:cs typeface="Times New Roman" panose="02020603050405020304" pitchFamily="18" charset="0"/>
              </a:rPr>
              <a:t>Best Model Selection</a:t>
            </a:r>
          </a:p>
        </p:txBody>
      </p:sp>
      <p:sp>
        <p:nvSpPr>
          <p:cNvPr id="3" name="Content Placeholder 2">
            <a:extLst>
              <a:ext uri="{FF2B5EF4-FFF2-40B4-BE49-F238E27FC236}">
                <a16:creationId xmlns:a16="http://schemas.microsoft.com/office/drawing/2014/main" id="{6B620915-CCAB-E129-DE0A-6829449C255C}"/>
              </a:ext>
            </a:extLst>
          </p:cNvPr>
          <p:cNvSpPr>
            <a:spLocks noGrp="1"/>
          </p:cNvSpPr>
          <p:nvPr>
            <p:ph idx="1"/>
          </p:nvPr>
        </p:nvSpPr>
        <p:spPr>
          <a:xfrm>
            <a:off x="1367884" y="837328"/>
            <a:ext cx="10515600" cy="5871381"/>
          </a:xfrm>
        </p:spPr>
        <p:txBody>
          <a:bodyPr>
            <a:normAutofit fontScale="77500" lnSpcReduction="20000"/>
          </a:bodyPr>
          <a:lstStyle/>
          <a:p>
            <a:pPr marL="0" indent="0">
              <a:buNone/>
            </a:pPr>
            <a:r>
              <a:rPr lang="en-US" sz="3100" dirty="0">
                <a:latin typeface="Times New Roman" panose="02020603050405020304" pitchFamily="18" charset="0"/>
                <a:cs typeface="Times New Roman" panose="02020603050405020304" pitchFamily="18" charset="0"/>
              </a:rPr>
              <a:t>After training multiple machine learning algorithms, each model was evaluated using key performance metrics:</a:t>
            </a:r>
          </a:p>
          <a:p>
            <a:pPr marL="0" indent="0">
              <a:buNone/>
            </a:pPr>
            <a:r>
              <a:rPr lang="en-US" sz="3100" dirty="0">
                <a:latin typeface="Times New Roman" panose="02020603050405020304" pitchFamily="18" charset="0"/>
                <a:cs typeface="Times New Roman" panose="02020603050405020304" pitchFamily="18" charset="0"/>
              </a:rPr>
              <a:t>Accuracy</a:t>
            </a:r>
          </a:p>
          <a:p>
            <a:pPr marL="0" indent="0">
              <a:buNone/>
            </a:pPr>
            <a:r>
              <a:rPr lang="en-US" sz="3100" dirty="0">
                <a:latin typeface="Times New Roman" panose="02020603050405020304" pitchFamily="18" charset="0"/>
                <a:cs typeface="Times New Roman" panose="02020603050405020304" pitchFamily="18" charset="0"/>
              </a:rPr>
              <a:t>Precision</a:t>
            </a:r>
          </a:p>
          <a:p>
            <a:pPr marL="0" indent="0">
              <a:buNone/>
            </a:pPr>
            <a:r>
              <a:rPr lang="en-US" sz="3100" dirty="0">
                <a:latin typeface="Times New Roman" panose="02020603050405020304" pitchFamily="18" charset="0"/>
                <a:cs typeface="Times New Roman" panose="02020603050405020304" pitchFamily="18" charset="0"/>
              </a:rPr>
              <a:t>Recall</a:t>
            </a:r>
          </a:p>
          <a:p>
            <a:pPr marL="0" indent="0">
              <a:buNone/>
            </a:pPr>
            <a:r>
              <a:rPr lang="en-US" sz="3100" dirty="0">
                <a:latin typeface="Times New Roman" panose="02020603050405020304" pitchFamily="18" charset="0"/>
                <a:cs typeface="Times New Roman" panose="02020603050405020304" pitchFamily="18" charset="0"/>
              </a:rPr>
              <a:t>F1-score</a:t>
            </a:r>
          </a:p>
          <a:p>
            <a:pPr marL="0" indent="0">
              <a:buNone/>
            </a:pPr>
            <a:r>
              <a:rPr lang="en-US" sz="3100" dirty="0">
                <a:latin typeface="Times New Roman" panose="02020603050405020304" pitchFamily="18" charset="0"/>
                <a:cs typeface="Times New Roman" panose="02020603050405020304" pitchFamily="18" charset="0"/>
              </a:rPr>
              <a:t>Among all models ,Gradient Boosting achieved the highest accuracy and provided stable,</a:t>
            </a:r>
          </a:p>
          <a:p>
            <a:pPr marL="0" indent="0">
              <a:buNone/>
            </a:pPr>
            <a:r>
              <a:rPr lang="en-US" sz="3100" dirty="0">
                <a:latin typeface="Times New Roman" panose="02020603050405020304" pitchFamily="18" charset="0"/>
                <a:cs typeface="Times New Roman" panose="02020603050405020304" pitchFamily="18" charset="0"/>
              </a:rPr>
              <a:t>consistent predictions for all classes of disease risk.</a:t>
            </a:r>
          </a:p>
          <a:p>
            <a:pPr marL="0" indent="0">
              <a:buNone/>
            </a:pPr>
            <a:r>
              <a:rPr lang="en-US" sz="3100" dirty="0">
                <a:latin typeface="Times New Roman" panose="02020603050405020304" pitchFamily="18" charset="0"/>
                <a:cs typeface="Times New Roman" panose="02020603050405020304" pitchFamily="18" charset="0"/>
              </a:rPr>
              <a:t>Hence Gradient Boosting was selected as the best model for final deployment.</a:t>
            </a:r>
          </a:p>
          <a:p>
            <a:pPr marL="0" indent="0">
              <a:buNone/>
            </a:pPr>
            <a:endParaRPr lang="en-IN" sz="3900"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3900" dirty="0">
                <a:solidFill>
                  <a:schemeClr val="tx2">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 saving and deployment: </a:t>
            </a:r>
          </a:p>
          <a:p>
            <a:pPr marL="0" indent="0">
              <a:buNone/>
            </a:pPr>
            <a:r>
              <a:rPr lang="en-IN" sz="3400" dirty="0">
                <a:latin typeface="Times New Roman" panose="02020603050405020304" pitchFamily="18" charset="0"/>
                <a:cs typeface="Times New Roman" panose="02020603050405020304" pitchFamily="18" charset="0"/>
              </a:rPr>
              <a:t>The trained model was saved using </a:t>
            </a:r>
            <a:r>
              <a:rPr lang="en-IN" sz="3400" dirty="0" err="1">
                <a:latin typeface="Times New Roman" panose="02020603050405020304" pitchFamily="18" charset="0"/>
                <a:cs typeface="Times New Roman" panose="02020603050405020304" pitchFamily="18" charset="0"/>
              </a:rPr>
              <a:t>joblib</a:t>
            </a:r>
            <a:r>
              <a:rPr lang="en-IN" sz="3400" dirty="0">
                <a:latin typeface="Times New Roman" panose="02020603050405020304" pitchFamily="18" charset="0"/>
                <a:cs typeface="Times New Roman" panose="02020603050405020304" pitchFamily="18" charset="0"/>
              </a:rPr>
              <a:t> for reuse.</a:t>
            </a:r>
          </a:p>
          <a:p>
            <a:pPr marL="0" indent="0">
              <a:buNone/>
            </a:pPr>
            <a:r>
              <a:rPr lang="en-IN" sz="3400" dirty="0">
                <a:latin typeface="Times New Roman" panose="02020603050405020304" pitchFamily="18" charset="0"/>
                <a:cs typeface="Times New Roman" panose="02020603050405020304" pitchFamily="18" charset="0"/>
              </a:rPr>
              <a:t>It was integrated into a </a:t>
            </a:r>
            <a:r>
              <a:rPr lang="en-IN" sz="3400" dirty="0" err="1">
                <a:latin typeface="Times New Roman" panose="02020603050405020304" pitchFamily="18" charset="0"/>
                <a:cs typeface="Times New Roman" panose="02020603050405020304" pitchFamily="18" charset="0"/>
              </a:rPr>
              <a:t>Streamlit</a:t>
            </a:r>
            <a:r>
              <a:rPr lang="en-IN" sz="3400" dirty="0">
                <a:latin typeface="Times New Roman" panose="02020603050405020304" pitchFamily="18" charset="0"/>
                <a:cs typeface="Times New Roman" panose="02020603050405020304" pitchFamily="18" charset="0"/>
              </a:rPr>
              <a:t> web application allowing users to input their data. And receive instant disease risk predictions</a:t>
            </a:r>
            <a:r>
              <a:rPr lang="en-IN" sz="26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17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10015-0653-E4E6-0AAA-1D6BC7BBDE31}"/>
              </a:ext>
            </a:extLst>
          </p:cNvPr>
          <p:cNvSpPr>
            <a:spLocks noGrp="1"/>
          </p:cNvSpPr>
          <p:nvPr>
            <p:ph type="title"/>
          </p:nvPr>
        </p:nvSpPr>
        <p:spPr>
          <a:xfrm>
            <a:off x="1344977" y="0"/>
            <a:ext cx="9997440" cy="1143000"/>
          </a:xfrm>
        </p:spPr>
        <p:txBody>
          <a:bodyPr>
            <a:normAutofit/>
          </a:bodyPr>
          <a:lstStyle/>
          <a:p>
            <a:r>
              <a:rPr lang="en-IN" dirty="0">
                <a:latin typeface="Times New Roman" panose="02020603050405020304" pitchFamily="18" charset="0"/>
                <a:cs typeface="Times New Roman" panose="02020603050405020304" pitchFamily="18" charset="0"/>
              </a:rPr>
              <a:t>INSIGHTS AND RECOMMENDATION</a:t>
            </a:r>
          </a:p>
        </p:txBody>
      </p:sp>
      <p:sp>
        <p:nvSpPr>
          <p:cNvPr id="3" name="Content Placeholder 2">
            <a:extLst>
              <a:ext uri="{FF2B5EF4-FFF2-40B4-BE49-F238E27FC236}">
                <a16:creationId xmlns:a16="http://schemas.microsoft.com/office/drawing/2014/main" id="{06764C60-4666-9761-549E-1FB4A410822A}"/>
              </a:ext>
            </a:extLst>
          </p:cNvPr>
          <p:cNvSpPr>
            <a:spLocks noGrp="1"/>
          </p:cNvSpPr>
          <p:nvPr>
            <p:ph idx="1"/>
          </p:nvPr>
        </p:nvSpPr>
        <p:spPr>
          <a:xfrm>
            <a:off x="1398037" y="1012822"/>
            <a:ext cx="10515600" cy="5201366"/>
          </a:xfrm>
        </p:spPr>
        <p:txBody>
          <a:bodyPr>
            <a:normAutofit lnSpcReduction="10000"/>
          </a:bodyPr>
          <a:lstStyle/>
          <a:p>
            <a:pPr marL="0" indent="0">
              <a:buNone/>
            </a:pPr>
            <a:r>
              <a:rPr lang="en-US" b="1" u="sng" dirty="0">
                <a:latin typeface="Times New Roman" panose="02020603050405020304" pitchFamily="18" charset="0"/>
                <a:cs typeface="Times New Roman" panose="02020603050405020304" pitchFamily="18" charset="0"/>
              </a:rPr>
              <a:t>Insights</a:t>
            </a:r>
          </a:p>
          <a:p>
            <a:r>
              <a:rPr lang="en-US" sz="3000" b="1" dirty="0">
                <a:latin typeface="Times New Roman" panose="02020603050405020304" pitchFamily="18" charset="0"/>
                <a:cs typeface="Times New Roman" panose="02020603050405020304" pitchFamily="18" charset="0"/>
              </a:rPr>
              <a:t>Age, cholesterol, and blood pressure</a:t>
            </a:r>
            <a:r>
              <a:rPr lang="en-US" sz="3000" dirty="0">
                <a:latin typeface="Times New Roman" panose="02020603050405020304" pitchFamily="18" charset="0"/>
                <a:cs typeface="Times New Roman" panose="02020603050405020304" pitchFamily="18" charset="0"/>
              </a:rPr>
              <a:t> showed a strong correlation with disease risk.</a:t>
            </a:r>
          </a:p>
          <a:p>
            <a:r>
              <a:rPr lang="en-US" sz="3000" b="1" dirty="0">
                <a:latin typeface="Times New Roman" panose="02020603050405020304" pitchFamily="18" charset="0"/>
                <a:cs typeface="Times New Roman" panose="02020603050405020304" pitchFamily="18" charset="0"/>
              </a:rPr>
              <a:t>Unhealthy lifestyle factors</a:t>
            </a:r>
            <a:r>
              <a:rPr lang="en-US" sz="3000" dirty="0">
                <a:latin typeface="Times New Roman" panose="02020603050405020304" pitchFamily="18" charset="0"/>
                <a:cs typeface="Times New Roman" panose="02020603050405020304" pitchFamily="18" charset="0"/>
              </a:rPr>
              <a:t> like smoking and lack of physical activity increased disease probability.</a:t>
            </a:r>
          </a:p>
          <a:p>
            <a:r>
              <a:rPr lang="en-US" sz="3000" dirty="0">
                <a:latin typeface="Times New Roman" panose="02020603050405020304" pitchFamily="18" charset="0"/>
                <a:cs typeface="Times New Roman" panose="02020603050405020304" pitchFamily="18" charset="0"/>
              </a:rPr>
              <a:t>The data was slightly </a:t>
            </a:r>
            <a:r>
              <a:rPr lang="en-US" sz="3000" b="1" dirty="0">
                <a:latin typeface="Times New Roman" panose="02020603050405020304" pitchFamily="18" charset="0"/>
                <a:cs typeface="Times New Roman" panose="02020603050405020304" pitchFamily="18" charset="0"/>
              </a:rPr>
              <a:t>imbalanced</a:t>
            </a:r>
            <a:r>
              <a:rPr lang="en-US" sz="3000" dirty="0">
                <a:latin typeface="Times New Roman" panose="02020603050405020304" pitchFamily="18" charset="0"/>
                <a:cs typeface="Times New Roman" panose="02020603050405020304" pitchFamily="18" charset="0"/>
              </a:rPr>
              <a:t>, with more samples in the low-risk category.</a:t>
            </a:r>
          </a:p>
          <a:p>
            <a:r>
              <a:rPr lang="en-US" sz="3000" b="1" dirty="0">
                <a:latin typeface="Times New Roman" panose="02020603050405020304" pitchFamily="18" charset="0"/>
                <a:cs typeface="Times New Roman" panose="02020603050405020304" pitchFamily="18" charset="0"/>
              </a:rPr>
              <a:t>Gradient Boosting</a:t>
            </a:r>
            <a:r>
              <a:rPr lang="en-US" sz="3000" dirty="0">
                <a:latin typeface="Times New Roman" panose="02020603050405020304" pitchFamily="18" charset="0"/>
                <a:cs typeface="Times New Roman" panose="02020603050405020304" pitchFamily="18" charset="0"/>
              </a:rPr>
              <a:t> outperformed other models, giving the</a:t>
            </a:r>
            <a:r>
              <a:rPr lang="en-US" sz="3000" b="1"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highest prediction accuracy.</a:t>
            </a:r>
          </a:p>
          <a:p>
            <a:r>
              <a:rPr lang="en-US" sz="3000" dirty="0">
                <a:latin typeface="Times New Roman" panose="02020603050405020304" pitchFamily="18" charset="0"/>
                <a:cs typeface="Times New Roman" panose="02020603050405020304" pitchFamily="18" charset="0"/>
              </a:rPr>
              <a:t>Proper data preprocessing and feature scaling significantly improved model performance</a:t>
            </a:r>
            <a:r>
              <a:rPr lang="en-US" dirty="0"/>
              <a:t>.</a:t>
            </a:r>
          </a:p>
          <a:p>
            <a:endParaRPr lang="en-IN" dirty="0"/>
          </a:p>
        </p:txBody>
      </p:sp>
    </p:spTree>
    <p:extLst>
      <p:ext uri="{BB962C8B-B14F-4D97-AF65-F5344CB8AC3E}">
        <p14:creationId xmlns:p14="http://schemas.microsoft.com/office/powerpoint/2010/main" val="3807707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839" y="-163901"/>
            <a:ext cx="9997440" cy="1143000"/>
          </a:xfrm>
        </p:spPr>
        <p:txBody>
          <a:bodyPr>
            <a:normAutofit/>
          </a:bodyPr>
          <a:lstStyle/>
          <a:p>
            <a:r>
              <a:rPr lang="en-US" sz="800" dirty="0"/>
              <a:t>.</a:t>
            </a:r>
          </a:p>
        </p:txBody>
      </p:sp>
      <p:sp>
        <p:nvSpPr>
          <p:cNvPr id="3" name="Content Placeholder 2"/>
          <p:cNvSpPr>
            <a:spLocks noGrp="1"/>
          </p:cNvSpPr>
          <p:nvPr>
            <p:ph idx="1"/>
          </p:nvPr>
        </p:nvSpPr>
        <p:spPr>
          <a:xfrm>
            <a:off x="1344977" y="858417"/>
            <a:ext cx="9997440" cy="7259216"/>
          </a:xfrm>
        </p:spPr>
        <p:txBody>
          <a:bodyPr>
            <a:normAutofit/>
          </a:bodyPr>
          <a:lstStyle/>
          <a:p>
            <a:pPr marL="82296" indent="0">
              <a:buNone/>
            </a:pPr>
            <a:r>
              <a:rPr lang="en-US" sz="2800" b="1" u="sng" dirty="0">
                <a:latin typeface="Times New Roman" panose="02020603050405020304" pitchFamily="18" charset="0"/>
                <a:cs typeface="Times New Roman" panose="02020603050405020304" pitchFamily="18" charset="0"/>
              </a:rPr>
              <a:t>Recommendations</a:t>
            </a:r>
          </a:p>
          <a:p>
            <a:r>
              <a:rPr lang="en-US" sz="2400" dirty="0">
                <a:latin typeface="Times New Roman" panose="02020603050405020304" pitchFamily="18" charset="0"/>
                <a:cs typeface="Times New Roman" panose="02020603050405020304" pitchFamily="18" charset="0"/>
              </a:rPr>
              <a:t>Encourage </a:t>
            </a:r>
            <a:r>
              <a:rPr lang="en-US" sz="2400" b="1" dirty="0">
                <a:latin typeface="Times New Roman" panose="02020603050405020304" pitchFamily="18" charset="0"/>
                <a:cs typeface="Times New Roman" panose="02020603050405020304" pitchFamily="18" charset="0"/>
              </a:rPr>
              <a:t>regular health check-ups</a:t>
            </a:r>
            <a:r>
              <a:rPr lang="en-US" sz="2400" dirty="0">
                <a:latin typeface="Times New Roman" panose="02020603050405020304" pitchFamily="18" charset="0"/>
                <a:cs typeface="Times New Roman" panose="02020603050405020304" pitchFamily="18" charset="0"/>
              </a:rPr>
              <a:t> to collect accurate data and detect risk early.</a:t>
            </a:r>
          </a:p>
          <a:p>
            <a:r>
              <a:rPr lang="en-US" sz="2400" dirty="0">
                <a:latin typeface="Times New Roman" panose="02020603050405020304" pitchFamily="18" charset="0"/>
                <a:cs typeface="Times New Roman" panose="02020603050405020304" pitchFamily="18" charset="0"/>
              </a:rPr>
              <a:t>Use the model in </a:t>
            </a:r>
            <a:r>
              <a:rPr lang="en-US" sz="2400" b="1" dirty="0">
                <a:latin typeface="Times New Roman" panose="02020603050405020304" pitchFamily="18" charset="0"/>
                <a:cs typeface="Times New Roman" panose="02020603050405020304" pitchFamily="18" charset="0"/>
              </a:rPr>
              <a:t>hospitals and health apps</a:t>
            </a:r>
            <a:r>
              <a:rPr lang="en-US" sz="2400" dirty="0">
                <a:latin typeface="Times New Roman" panose="02020603050405020304" pitchFamily="18" charset="0"/>
                <a:cs typeface="Times New Roman" panose="02020603050405020304" pitchFamily="18" charset="0"/>
              </a:rPr>
              <a:t> for quick disease risk screening.</a:t>
            </a:r>
          </a:p>
          <a:p>
            <a:r>
              <a:rPr lang="en-US" sz="2400" dirty="0">
                <a:latin typeface="Times New Roman" panose="02020603050405020304" pitchFamily="18" charset="0"/>
                <a:cs typeface="Times New Roman" panose="02020603050405020304" pitchFamily="18" charset="0"/>
              </a:rPr>
              <a:t>Continuously </a:t>
            </a:r>
            <a:r>
              <a:rPr lang="en-US" sz="2400" b="1" dirty="0">
                <a:latin typeface="Times New Roman" panose="02020603050405020304" pitchFamily="18" charset="0"/>
                <a:cs typeface="Times New Roman" panose="02020603050405020304" pitchFamily="18" charset="0"/>
              </a:rPr>
              <a:t>update the model</a:t>
            </a:r>
            <a:r>
              <a:rPr lang="en-US" sz="2400" dirty="0">
                <a:latin typeface="Times New Roman" panose="02020603050405020304" pitchFamily="18" charset="0"/>
                <a:cs typeface="Times New Roman" panose="02020603050405020304" pitchFamily="18" charset="0"/>
              </a:rPr>
              <a:t> with new data for better accuracy and adaptability.</a:t>
            </a:r>
          </a:p>
          <a:p>
            <a:r>
              <a:rPr lang="en-US" sz="2400" dirty="0">
                <a:latin typeface="Times New Roman" panose="02020603050405020304" pitchFamily="18" charset="0"/>
                <a:cs typeface="Times New Roman" panose="02020603050405020304" pitchFamily="18" charset="0"/>
              </a:rPr>
              <a:t>Add more medical parameters (like family history or BMI trends) for </a:t>
            </a:r>
            <a:r>
              <a:rPr lang="en-US" sz="2400" b="1" dirty="0">
                <a:latin typeface="Times New Roman" panose="02020603050405020304" pitchFamily="18" charset="0"/>
                <a:cs typeface="Times New Roman" panose="02020603050405020304" pitchFamily="18" charset="0"/>
              </a:rPr>
              <a:t>improved prediction power</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Ensure </a:t>
            </a:r>
            <a:r>
              <a:rPr lang="en-US" sz="2400" b="1" dirty="0">
                <a:latin typeface="Times New Roman" panose="02020603050405020304" pitchFamily="18" charset="0"/>
                <a:cs typeface="Times New Roman" panose="02020603050405020304" pitchFamily="18" charset="0"/>
              </a:rPr>
              <a:t>data privacy and security</a:t>
            </a:r>
            <a:r>
              <a:rPr lang="en-US" sz="2400" dirty="0">
                <a:latin typeface="Times New Roman" panose="02020603050405020304" pitchFamily="18" charset="0"/>
                <a:cs typeface="Times New Roman" panose="02020603050405020304" pitchFamily="18" charset="0"/>
              </a:rPr>
              <a:t> when handling patient information.</a:t>
            </a:r>
          </a:p>
          <a:p>
            <a:pPr marL="82296" indent="0">
              <a:buNone/>
            </a:pPr>
            <a:endParaRPr lang="en-US" sz="28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143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C4024-54E5-36F3-8344-20585DB6C69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SOLUTION &amp; IMPLEMENTATION</a:t>
            </a:r>
          </a:p>
        </p:txBody>
      </p:sp>
      <p:sp>
        <p:nvSpPr>
          <p:cNvPr id="3" name="Content Placeholder 2">
            <a:extLst>
              <a:ext uri="{FF2B5EF4-FFF2-40B4-BE49-F238E27FC236}">
                <a16:creationId xmlns:a16="http://schemas.microsoft.com/office/drawing/2014/main" id="{D302FEDE-CB85-0D7E-2A1C-218DC955A200}"/>
              </a:ext>
            </a:extLst>
          </p:cNvPr>
          <p:cNvSpPr>
            <a:spLocks noGrp="1"/>
          </p:cNvSpPr>
          <p:nvPr>
            <p:ph idx="1"/>
          </p:nvPr>
        </p:nvSpPr>
        <p:spPr>
          <a:xfrm>
            <a:off x="838200" y="1690688"/>
            <a:ext cx="10515600" cy="4752156"/>
          </a:xfrm>
        </p:spPr>
        <p:style>
          <a:lnRef idx="2">
            <a:schemeClr val="accent5">
              <a:shade val="50000"/>
            </a:schemeClr>
          </a:lnRef>
          <a:fillRef idx="1">
            <a:schemeClr val="accent5"/>
          </a:fillRef>
          <a:effectRef idx="0">
            <a:schemeClr val="accent5"/>
          </a:effectRef>
          <a:fontRef idx="minor">
            <a:schemeClr val="lt1"/>
          </a:fontRef>
        </p:style>
        <p:txBody>
          <a:bodyPr>
            <a:normAutofit fontScale="85000" lnSpcReduction="10000"/>
          </a:bodyPr>
          <a:lstStyle/>
          <a:p>
            <a:pPr marL="82296" indent="0">
              <a:buNone/>
            </a:pPr>
            <a:r>
              <a:rPr lang="en-US" b="1" dirty="0"/>
              <a:t>   </a:t>
            </a:r>
            <a:r>
              <a:rPr lang="en-US" b="1" u="sng" dirty="0">
                <a:latin typeface="Times New Roman" panose="02020603050405020304" pitchFamily="18" charset="0"/>
                <a:cs typeface="Times New Roman" panose="02020603050405020304" pitchFamily="18" charset="0"/>
              </a:rPr>
              <a:t>Solution</a:t>
            </a:r>
          </a:p>
          <a:p>
            <a:r>
              <a:rPr lang="en-US" dirty="0">
                <a:latin typeface="Times New Roman" panose="02020603050405020304" pitchFamily="18" charset="0"/>
                <a:cs typeface="Times New Roman" panose="02020603050405020304" pitchFamily="18" charset="0"/>
              </a:rPr>
              <a:t>A machine learning model was developed to </a:t>
            </a:r>
            <a:r>
              <a:rPr lang="en-US" b="1" dirty="0">
                <a:latin typeface="Times New Roman" panose="02020603050405020304" pitchFamily="18" charset="0"/>
                <a:cs typeface="Times New Roman" panose="02020603050405020304" pitchFamily="18" charset="0"/>
              </a:rPr>
              <a:t>predict disease risk</a:t>
            </a:r>
            <a:r>
              <a:rPr lang="en-US" dirty="0">
                <a:latin typeface="Times New Roman" panose="02020603050405020304" pitchFamily="18" charset="0"/>
                <a:cs typeface="Times New Roman" panose="02020603050405020304" pitchFamily="18" charset="0"/>
              </a:rPr>
              <a:t> using health data such as age, blood pressure, cholesterol, and lifestyle factors.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provides an </a:t>
            </a:r>
            <a:r>
              <a:rPr lang="en-US" b="1" dirty="0">
                <a:latin typeface="Times New Roman" panose="02020603050405020304" pitchFamily="18" charset="0"/>
                <a:cs typeface="Times New Roman" panose="02020603050405020304" pitchFamily="18" charset="0"/>
              </a:rPr>
              <a:t>accurate and fast</a:t>
            </a:r>
            <a:r>
              <a:rPr lang="en-US" dirty="0">
                <a:latin typeface="Times New Roman" panose="02020603050405020304" pitchFamily="18" charset="0"/>
                <a:cs typeface="Times New Roman" panose="02020603050405020304" pitchFamily="18" charset="0"/>
              </a:rPr>
              <a:t> way to detect health risks early and support preventive healthcare.</a:t>
            </a:r>
          </a:p>
          <a:p>
            <a:pPr marL="82296" indent="0">
              <a:buNone/>
            </a:pPr>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Implementation</a:t>
            </a:r>
          </a:p>
          <a:p>
            <a:r>
              <a:rPr lang="en-US" dirty="0">
                <a:latin typeface="Times New Roman" panose="02020603050405020304" pitchFamily="18" charset="0"/>
                <a:cs typeface="Times New Roman" panose="02020603050405020304" pitchFamily="18" charset="0"/>
              </a:rPr>
              <a:t>Collected and preprocessed health dataset.</a:t>
            </a:r>
          </a:p>
          <a:p>
            <a:r>
              <a:rPr lang="en-US" dirty="0">
                <a:latin typeface="Times New Roman" panose="02020603050405020304" pitchFamily="18" charset="0"/>
                <a:cs typeface="Times New Roman" panose="02020603050405020304" pitchFamily="18" charset="0"/>
              </a:rPr>
              <a:t>Trained multiple ML models (Logistic Regression, Random Forest, SVM, Gradient Boosting).</a:t>
            </a:r>
          </a:p>
          <a:p>
            <a:r>
              <a:rPr lang="en-US" dirty="0">
                <a:latin typeface="Times New Roman" panose="02020603050405020304" pitchFamily="18" charset="0"/>
                <a:cs typeface="Times New Roman" panose="02020603050405020304" pitchFamily="18" charset="0"/>
              </a:rPr>
              <a:t>Selected </a:t>
            </a:r>
            <a:r>
              <a:rPr lang="en-US" b="1" dirty="0">
                <a:latin typeface="Times New Roman" panose="02020603050405020304" pitchFamily="18" charset="0"/>
                <a:cs typeface="Times New Roman" panose="02020603050405020304" pitchFamily="18" charset="0"/>
              </a:rPr>
              <a:t>Gradient Boosting</a:t>
            </a:r>
            <a:r>
              <a:rPr lang="en-US" dirty="0">
                <a:latin typeface="Times New Roman" panose="02020603050405020304" pitchFamily="18" charset="0"/>
                <a:cs typeface="Times New Roman" panose="02020603050405020304" pitchFamily="18" charset="0"/>
              </a:rPr>
              <a:t> as the best model based on accuracy.</a:t>
            </a:r>
          </a:p>
          <a:p>
            <a:r>
              <a:rPr lang="en-US" dirty="0">
                <a:latin typeface="Times New Roman" panose="02020603050405020304" pitchFamily="18" charset="0"/>
                <a:cs typeface="Times New Roman" panose="02020603050405020304" pitchFamily="18" charset="0"/>
              </a:rPr>
              <a:t>Deployed the model using </a:t>
            </a:r>
            <a:r>
              <a:rPr lang="en-US" b="1" dirty="0" err="1">
                <a:latin typeface="Times New Roman" panose="02020603050405020304" pitchFamily="18" charset="0"/>
                <a:cs typeface="Times New Roman" panose="02020603050405020304" pitchFamily="18" charset="0"/>
              </a:rPr>
              <a:t>Streamlit</a:t>
            </a:r>
            <a:r>
              <a:rPr lang="en-US" dirty="0">
                <a:latin typeface="Times New Roman" panose="02020603050405020304" pitchFamily="18" charset="0"/>
                <a:cs typeface="Times New Roman" panose="02020603050405020304" pitchFamily="18" charset="0"/>
              </a:rPr>
              <a:t> for real-time predictions.</a:t>
            </a:r>
          </a:p>
          <a:p>
            <a:endParaRPr lang="en-IN" dirty="0"/>
          </a:p>
        </p:txBody>
      </p:sp>
    </p:spTree>
    <p:extLst>
      <p:ext uri="{BB962C8B-B14F-4D97-AF65-F5344CB8AC3E}">
        <p14:creationId xmlns:p14="http://schemas.microsoft.com/office/powerpoint/2010/main" val="4184294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94B9C-5863-3A47-CFB4-FE9701287D8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B72CB85-568D-E0C9-2B38-4ADF19AE71E8}"/>
              </a:ext>
            </a:extLst>
          </p:cNvPr>
          <p:cNvSpPr>
            <a:spLocks noGrp="1"/>
          </p:cNvSpPr>
          <p:nvPr>
            <p:ph idx="1"/>
          </p:nvPr>
        </p:nvSpPr>
        <p:spPr>
          <a:xfrm>
            <a:off x="1343609" y="1261188"/>
            <a:ext cx="10776857" cy="4906348"/>
          </a:xfrm>
        </p:spPr>
        <p:txBody>
          <a:bodyPr>
            <a:normAutofit/>
          </a:bodyPr>
          <a:lstStyle/>
          <a:p>
            <a:pPr marL="82296" indent="0">
              <a:buNone/>
            </a:pPr>
            <a:r>
              <a:rPr lang="en-US" sz="2800" dirty="0">
                <a:latin typeface="Times New Roman" panose="02020603050405020304" pitchFamily="18" charset="0"/>
                <a:cs typeface="Times New Roman" panose="02020603050405020304" pitchFamily="18" charset="0"/>
              </a:rPr>
              <a:t>This project successfully developed a machine learning model capable of predicting disease risk with high accuracy. By analyzing key health factors like age, blood pressure, cholesterol, and </a:t>
            </a:r>
            <a:r>
              <a:rPr lang="en-US" sz="2800">
                <a:latin typeface="Times New Roman" panose="02020603050405020304" pitchFamily="18" charset="0"/>
                <a:cs typeface="Times New Roman" panose="02020603050405020304" pitchFamily="18" charset="0"/>
              </a:rPr>
              <a:t>lifestyle factors the </a:t>
            </a:r>
            <a:r>
              <a:rPr lang="en-US" sz="2800" dirty="0">
                <a:latin typeface="Times New Roman" panose="02020603050405020304" pitchFamily="18" charset="0"/>
                <a:cs typeface="Times New Roman" panose="02020603050405020304" pitchFamily="18" charset="0"/>
              </a:rPr>
              <a:t>system provides early warnings that can help prevent serious health issues. The model’s deployment through a </a:t>
            </a:r>
            <a:r>
              <a:rPr lang="en-US" sz="2800" dirty="0" err="1">
                <a:latin typeface="Times New Roman" panose="02020603050405020304" pitchFamily="18" charset="0"/>
                <a:cs typeface="Times New Roman" panose="02020603050405020304" pitchFamily="18" charset="0"/>
              </a:rPr>
              <a:t>Streamlit</a:t>
            </a:r>
            <a:r>
              <a:rPr lang="en-US" sz="2800" dirty="0">
                <a:latin typeface="Times New Roman" panose="02020603050405020304" pitchFamily="18" charset="0"/>
                <a:cs typeface="Times New Roman" panose="02020603050405020304" pitchFamily="18" charset="0"/>
              </a:rPr>
              <a:t> application makes it accessible and user-friendly , promoting data-driven healthcare decisions. With further improvements and real-world medical data, this approach can support doctors, enhance patient awareness, and contribute to smart, preventive healthcare systems</a:t>
            </a:r>
            <a:r>
              <a:rPr lang="en-US" sz="30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462197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2299" y="2439021"/>
            <a:ext cx="9997440" cy="1143000"/>
          </a:xfrm>
        </p:spPr>
        <p:txBody>
          <a:bodyPr>
            <a:noAutofit/>
          </a:bodyPr>
          <a:lstStyle/>
          <a:p>
            <a:pPr algn="ctr"/>
            <a:r>
              <a:rPr lang="en-US" sz="7200" i="1" dirty="0">
                <a:latin typeface="Algerian" panose="04020705040A02060702" pitchFamily="82" charset="0"/>
              </a:rPr>
              <a:t>THANK YOU</a:t>
            </a:r>
          </a:p>
        </p:txBody>
      </p:sp>
    </p:spTree>
    <p:extLst>
      <p:ext uri="{BB962C8B-B14F-4D97-AF65-F5344CB8AC3E}">
        <p14:creationId xmlns:p14="http://schemas.microsoft.com/office/powerpoint/2010/main" val="372149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3749</TotalTime>
  <Words>1414</Words>
  <Application>Microsoft Office PowerPoint</Application>
  <PresentationFormat>Widescreen</PresentationFormat>
  <Paragraphs>327</Paragraphs>
  <Slides>20</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Algerian</vt:lpstr>
      <vt:lpstr>Arial</vt:lpstr>
      <vt:lpstr>Calibri</vt:lpstr>
      <vt:lpstr>Calibri Light</vt:lpstr>
      <vt:lpstr>Gill Sans MT</vt:lpstr>
      <vt:lpstr>Times New Roman</vt:lpstr>
      <vt:lpstr>Verdana</vt:lpstr>
      <vt:lpstr>Wingdings 2</vt:lpstr>
      <vt:lpstr>Custom Design</vt:lpstr>
      <vt:lpstr>Solstice</vt:lpstr>
      <vt:lpstr>DISEASE RISK PREDICTION</vt:lpstr>
      <vt:lpstr>OBJECTIVE</vt:lpstr>
      <vt:lpstr>CHOOSING A DATASET</vt:lpstr>
      <vt:lpstr>PowerPoint Presentation</vt:lpstr>
      <vt:lpstr>UNDERSTANDING THE PROBLEM</vt:lpstr>
      <vt:lpstr>DATA PREPROCESSING</vt:lpstr>
      <vt:lpstr>EXPLORATORY DATA ANALYSIS (EDA)</vt:lpstr>
      <vt:lpstr>The pairplot shows feature distributions and how health &amp; lifestyle variables relate to each other, helping identify patterns and weak or strong relationships.</vt:lpstr>
      <vt:lpstr>.</vt:lpstr>
      <vt:lpstr>.</vt:lpstr>
      <vt:lpstr>.</vt:lpstr>
      <vt:lpstr>Summary Statistics</vt:lpstr>
      <vt:lpstr>DATA  ANALYSIS TECHNIQUES</vt:lpstr>
      <vt:lpstr>PowerPoint Presentation</vt:lpstr>
      <vt:lpstr>Best Model Selection</vt:lpstr>
      <vt:lpstr>INSIGHTS AND RECOMMENDATION</vt:lpstr>
      <vt:lpstr>.</vt:lpstr>
      <vt:lpstr>SOLUTION &amp; IMPLEMENTATION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DISEASE RISK PREDICTION</dc:title>
  <dc:creator>ABHIJIT ABHI</dc:creator>
  <cp:lastModifiedBy>DELL</cp:lastModifiedBy>
  <cp:revision>48</cp:revision>
  <dcterms:created xsi:type="dcterms:W3CDTF">2024-08-05T08:00:29Z</dcterms:created>
  <dcterms:modified xsi:type="dcterms:W3CDTF">2025-11-15T17:18:24Z</dcterms:modified>
</cp:coreProperties>
</file>